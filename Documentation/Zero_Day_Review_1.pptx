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67" r:id="rId5"/>
    <p:sldId id="269" r:id="rId6"/>
    <p:sldId id="258" r:id="rId7"/>
    <p:sldId id="259" r:id="rId8"/>
    <p:sldId id="260" r:id="rId9"/>
    <p:sldId id="293" r:id="rId10"/>
    <p:sldId id="295" r:id="rId11"/>
    <p:sldId id="304" r:id="rId12"/>
    <p:sldId id="296" r:id="rId13"/>
    <p:sldId id="297" r:id="rId14"/>
    <p:sldId id="287" r:id="rId15"/>
    <p:sldId id="294" r:id="rId16"/>
    <p:sldId id="298" r:id="rId17"/>
    <p:sldId id="299" r:id="rId18"/>
    <p:sldId id="300" r:id="rId19"/>
    <p:sldId id="289" r:id="rId20"/>
    <p:sldId id="290" r:id="rId21"/>
    <p:sldId id="291" r:id="rId22"/>
    <p:sldId id="303" r:id="rId23"/>
    <p:sldId id="302" r:id="rId24"/>
    <p:sldId id="301" r:id="rId25"/>
    <p:sldId id="261" r:id="rId26"/>
    <p:sldId id="270" r:id="rId27"/>
    <p:sldId id="292" r:id="rId28"/>
    <p:sldId id="263" r:id="rId29"/>
    <p:sldId id="305" r:id="rId30"/>
    <p:sldId id="307" r:id="rId31"/>
    <p:sldId id="306" r:id="rId32"/>
    <p:sldId id="308" r:id="rId33"/>
    <p:sldId id="309" r:id="rId34"/>
    <p:sldId id="310" r:id="rId35"/>
    <p:sldId id="311" r:id="rId36"/>
    <p:sldId id="264" r:id="rId37"/>
    <p:sldId id="26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09-26T13:28:48.568"/>
    <p1510:client id="{2B4EA194-1475-578F-91CD-B97533700FC9}" v="2" dt="2026-09-26T16:09:57.365"/>
    <p1510:client id="{6A2B4378-A623-3C9C-FF39-7C9C6E8A317F}" v="13" dt="2026-09-26T08:50:42.305"/>
    <p1510:client id="{83104AC5-1644-30D0-2BCB-CF907C63CD20}" v="124" dt="2026-09-26T13:33:52.748"/>
    <p1510:client id="{C244F5DE-7B0F-C646-C942-A239DE01FF12}" v="75" dt="2026-09-26T14:03:24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240B09-11FB-4BC2-8E4A-E33D60C2E66F}" type="doc">
      <dgm:prSet loTypeId="urn:microsoft.com/office/officeart/2016/7/layout/VerticalHollowActionList" loCatId="List" qsTypeId="urn:microsoft.com/office/officeart/2005/8/quickstyle/simple1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0483ED7C-9CCF-4574-B8F6-C7987006CDF9}">
      <dgm:prSet/>
      <dgm:spPr/>
      <dgm:t>
        <a:bodyPr/>
        <a:lstStyle/>
        <a:p>
          <a:r>
            <a:rPr lang="en-US"/>
            <a:t>Detect</a:t>
          </a:r>
        </a:p>
      </dgm:t>
    </dgm:pt>
    <dgm:pt modelId="{A631DB32-61DA-4A93-A8CE-D52D32E9DB25}" type="parTrans" cxnId="{5250B2D4-343A-4140-A974-44A103C86C62}">
      <dgm:prSet/>
      <dgm:spPr/>
      <dgm:t>
        <a:bodyPr/>
        <a:lstStyle/>
        <a:p>
          <a:endParaRPr lang="en-US"/>
        </a:p>
      </dgm:t>
    </dgm:pt>
    <dgm:pt modelId="{1C10D1F1-04EB-43C7-8D23-EFDA8C92E3AE}" type="sibTrans" cxnId="{5250B2D4-343A-4140-A974-44A103C86C62}">
      <dgm:prSet/>
      <dgm:spPr/>
      <dgm:t>
        <a:bodyPr/>
        <a:lstStyle/>
        <a:p>
          <a:endParaRPr lang="en-US"/>
        </a:p>
      </dgm:t>
    </dgm:pt>
    <dgm:pt modelId="{54896B44-28FF-4670-BA93-2F555EB85D5D}">
      <dgm:prSet/>
      <dgm:spPr/>
      <dgm:t>
        <a:bodyPr/>
        <a:lstStyle/>
        <a:p>
          <a:r>
            <a:rPr lang="en-US"/>
            <a:t>Detect unseen attack behaviors </a:t>
          </a:r>
        </a:p>
      </dgm:t>
    </dgm:pt>
    <dgm:pt modelId="{514902D1-76ED-4D65-B798-24468E6EF021}" type="parTrans" cxnId="{1B0D82A3-8137-4737-8EFE-4D8CD534755D}">
      <dgm:prSet/>
      <dgm:spPr/>
      <dgm:t>
        <a:bodyPr/>
        <a:lstStyle/>
        <a:p>
          <a:endParaRPr lang="en-US"/>
        </a:p>
      </dgm:t>
    </dgm:pt>
    <dgm:pt modelId="{0C661F5E-A2E6-4558-9F56-0C2BC80913E6}" type="sibTrans" cxnId="{1B0D82A3-8137-4737-8EFE-4D8CD534755D}">
      <dgm:prSet/>
      <dgm:spPr/>
      <dgm:t>
        <a:bodyPr/>
        <a:lstStyle/>
        <a:p>
          <a:endParaRPr lang="en-US"/>
        </a:p>
      </dgm:t>
    </dgm:pt>
    <dgm:pt modelId="{4BF886BD-89A7-4758-959F-7614C29373A4}">
      <dgm:prSet/>
      <dgm:spPr/>
      <dgm:t>
        <a:bodyPr/>
        <a:lstStyle/>
        <a:p>
          <a:r>
            <a:rPr lang="en-US"/>
            <a:t>Reduce</a:t>
          </a:r>
        </a:p>
      </dgm:t>
    </dgm:pt>
    <dgm:pt modelId="{6ED60F48-6AE6-432C-92BA-AECC99D2DEB0}" type="parTrans" cxnId="{94ECD602-C28B-4BEF-8797-AF683B4A952D}">
      <dgm:prSet/>
      <dgm:spPr/>
      <dgm:t>
        <a:bodyPr/>
        <a:lstStyle/>
        <a:p>
          <a:endParaRPr lang="en-US"/>
        </a:p>
      </dgm:t>
    </dgm:pt>
    <dgm:pt modelId="{C0268157-6054-4230-92DD-130FCA8470A7}" type="sibTrans" cxnId="{94ECD602-C28B-4BEF-8797-AF683B4A952D}">
      <dgm:prSet/>
      <dgm:spPr/>
      <dgm:t>
        <a:bodyPr/>
        <a:lstStyle/>
        <a:p>
          <a:endParaRPr lang="en-US"/>
        </a:p>
      </dgm:t>
    </dgm:pt>
    <dgm:pt modelId="{1269F515-0930-4911-91E5-72ABD1476E10}">
      <dgm:prSet/>
      <dgm:spPr/>
      <dgm:t>
        <a:bodyPr/>
        <a:lstStyle/>
        <a:p>
          <a:r>
            <a:rPr lang="en-US"/>
            <a:t>Reduce SOC alert overload &amp; false positives </a:t>
          </a:r>
        </a:p>
      </dgm:t>
    </dgm:pt>
    <dgm:pt modelId="{252BCB7B-844E-499B-9E95-FED026242589}" type="parTrans" cxnId="{2834C7C1-1176-450C-9D26-CA8F83D491AE}">
      <dgm:prSet/>
      <dgm:spPr/>
      <dgm:t>
        <a:bodyPr/>
        <a:lstStyle/>
        <a:p>
          <a:endParaRPr lang="en-US"/>
        </a:p>
      </dgm:t>
    </dgm:pt>
    <dgm:pt modelId="{54A2DC3F-CE7F-41D0-8A12-A0CA70E2FDBB}" type="sibTrans" cxnId="{2834C7C1-1176-450C-9D26-CA8F83D491AE}">
      <dgm:prSet/>
      <dgm:spPr/>
      <dgm:t>
        <a:bodyPr/>
        <a:lstStyle/>
        <a:p>
          <a:endParaRPr lang="en-US"/>
        </a:p>
      </dgm:t>
    </dgm:pt>
    <dgm:pt modelId="{B0338473-8A44-4B57-ACF1-40D989AD3E78}">
      <dgm:prSet/>
      <dgm:spPr/>
      <dgm:t>
        <a:bodyPr/>
        <a:lstStyle/>
        <a:p>
          <a:r>
            <a:rPr lang="en-US"/>
            <a:t>Make</a:t>
          </a:r>
        </a:p>
      </dgm:t>
    </dgm:pt>
    <dgm:pt modelId="{AA674947-24E5-49C6-8AA0-614EBDE08142}" type="parTrans" cxnId="{7C4BA1BE-5DD3-4505-B2EA-7F29B22373AD}">
      <dgm:prSet/>
      <dgm:spPr/>
      <dgm:t>
        <a:bodyPr/>
        <a:lstStyle/>
        <a:p>
          <a:endParaRPr lang="en-US"/>
        </a:p>
      </dgm:t>
    </dgm:pt>
    <dgm:pt modelId="{3CEB6D7D-79C9-4FFC-BFF9-FF16EB3C5ACC}" type="sibTrans" cxnId="{7C4BA1BE-5DD3-4505-B2EA-7F29B22373AD}">
      <dgm:prSet/>
      <dgm:spPr/>
      <dgm:t>
        <a:bodyPr/>
        <a:lstStyle/>
        <a:p>
          <a:endParaRPr lang="en-US"/>
        </a:p>
      </dgm:t>
    </dgm:pt>
    <dgm:pt modelId="{B09D0B32-5CCC-4761-88A6-C79622F6BBAB}">
      <dgm:prSet/>
      <dgm:spPr/>
      <dgm:t>
        <a:bodyPr/>
        <a:lstStyle/>
        <a:p>
          <a:r>
            <a:rPr lang="en-US"/>
            <a:t>Make AI-generated security reasoning trustworthy </a:t>
          </a:r>
        </a:p>
      </dgm:t>
    </dgm:pt>
    <dgm:pt modelId="{273AE486-3416-4188-AF9D-5D45C73D9DE7}" type="parTrans" cxnId="{690FA0ED-88C0-4CDF-999E-F7D03BE85A83}">
      <dgm:prSet/>
      <dgm:spPr/>
      <dgm:t>
        <a:bodyPr/>
        <a:lstStyle/>
        <a:p>
          <a:endParaRPr lang="en-US"/>
        </a:p>
      </dgm:t>
    </dgm:pt>
    <dgm:pt modelId="{D7F4E5D1-1923-4547-8ACB-A3D7F376F262}" type="sibTrans" cxnId="{690FA0ED-88C0-4CDF-999E-F7D03BE85A83}">
      <dgm:prSet/>
      <dgm:spPr/>
      <dgm:t>
        <a:bodyPr/>
        <a:lstStyle/>
        <a:p>
          <a:endParaRPr lang="en-US"/>
        </a:p>
      </dgm:t>
    </dgm:pt>
    <dgm:pt modelId="{EDF7C4E9-5E7B-4681-A9B6-C3038C59AE08}">
      <dgm:prSet/>
      <dgm:spPr/>
      <dgm:t>
        <a:bodyPr/>
        <a:lstStyle/>
        <a:p>
          <a:r>
            <a:rPr lang="en-US"/>
            <a:t>Provide</a:t>
          </a:r>
        </a:p>
      </dgm:t>
    </dgm:pt>
    <dgm:pt modelId="{63117557-9080-4F42-BC99-17C357A8D33D}" type="parTrans" cxnId="{B6F8B721-814C-4B19-8AAA-922A0BC64858}">
      <dgm:prSet/>
      <dgm:spPr/>
      <dgm:t>
        <a:bodyPr/>
        <a:lstStyle/>
        <a:p>
          <a:endParaRPr lang="en-US"/>
        </a:p>
      </dgm:t>
    </dgm:pt>
    <dgm:pt modelId="{F510790A-8829-443E-A487-7FF86CDAA703}" type="sibTrans" cxnId="{B6F8B721-814C-4B19-8AAA-922A0BC64858}">
      <dgm:prSet/>
      <dgm:spPr/>
      <dgm:t>
        <a:bodyPr/>
        <a:lstStyle/>
        <a:p>
          <a:endParaRPr lang="en-US"/>
        </a:p>
      </dgm:t>
    </dgm:pt>
    <dgm:pt modelId="{5C174307-BFA7-4825-9B52-FB499571676A}">
      <dgm:prSet/>
      <dgm:spPr/>
      <dgm:t>
        <a:bodyPr/>
        <a:lstStyle/>
        <a:p>
          <a:r>
            <a:rPr lang="en-US"/>
            <a:t>Provide evidence-backed security decisions</a:t>
          </a:r>
        </a:p>
      </dgm:t>
    </dgm:pt>
    <dgm:pt modelId="{585BD00F-7F8B-41F1-A6E3-2146FFE1A5AB}" type="parTrans" cxnId="{2359F21E-6BDC-45FC-A0C5-A312E9B17142}">
      <dgm:prSet/>
      <dgm:spPr/>
      <dgm:t>
        <a:bodyPr/>
        <a:lstStyle/>
        <a:p>
          <a:endParaRPr lang="en-US"/>
        </a:p>
      </dgm:t>
    </dgm:pt>
    <dgm:pt modelId="{616401A6-5F0D-4940-A860-7DA3EA0DB3ED}" type="sibTrans" cxnId="{2359F21E-6BDC-45FC-A0C5-A312E9B17142}">
      <dgm:prSet/>
      <dgm:spPr/>
      <dgm:t>
        <a:bodyPr/>
        <a:lstStyle/>
        <a:p>
          <a:endParaRPr lang="en-US"/>
        </a:p>
      </dgm:t>
    </dgm:pt>
    <dgm:pt modelId="{C940A37F-CF53-40F4-BF27-C3143C325598}" type="pres">
      <dgm:prSet presAssocID="{31240B09-11FB-4BC2-8E4A-E33D60C2E66F}" presName="Name0" presStyleCnt="0">
        <dgm:presLayoutVars>
          <dgm:dir/>
          <dgm:animLvl val="lvl"/>
          <dgm:resizeHandles val="exact"/>
        </dgm:presLayoutVars>
      </dgm:prSet>
      <dgm:spPr/>
    </dgm:pt>
    <dgm:pt modelId="{BFF9F3FA-9851-4298-9C91-CB3D808A7C08}" type="pres">
      <dgm:prSet presAssocID="{0483ED7C-9CCF-4574-B8F6-C7987006CDF9}" presName="linNode" presStyleCnt="0"/>
      <dgm:spPr/>
    </dgm:pt>
    <dgm:pt modelId="{EACE4C30-8512-494E-9581-B93B3573C0BB}" type="pres">
      <dgm:prSet presAssocID="{0483ED7C-9CCF-4574-B8F6-C7987006CDF9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B55BDD6E-38FA-43CC-BDDF-BB2B62E0C970}" type="pres">
      <dgm:prSet presAssocID="{0483ED7C-9CCF-4574-B8F6-C7987006CDF9}" presName="descendantText" presStyleLbl="alignNode1" presStyleIdx="0" presStyleCnt="4">
        <dgm:presLayoutVars>
          <dgm:bulletEnabled/>
        </dgm:presLayoutVars>
      </dgm:prSet>
      <dgm:spPr/>
    </dgm:pt>
    <dgm:pt modelId="{CBF5E24D-D7CF-4834-9AAD-F69FABB66167}" type="pres">
      <dgm:prSet presAssocID="{1C10D1F1-04EB-43C7-8D23-EFDA8C92E3AE}" presName="sp" presStyleCnt="0"/>
      <dgm:spPr/>
    </dgm:pt>
    <dgm:pt modelId="{023EF5E8-B2E1-4841-B1E9-92BDDAA09F18}" type="pres">
      <dgm:prSet presAssocID="{4BF886BD-89A7-4758-959F-7614C29373A4}" presName="linNode" presStyleCnt="0"/>
      <dgm:spPr/>
    </dgm:pt>
    <dgm:pt modelId="{2FBE725D-9ABD-4CC6-A50C-F832B104DEA5}" type="pres">
      <dgm:prSet presAssocID="{4BF886BD-89A7-4758-959F-7614C29373A4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9D417831-F17C-4293-B468-3898BEAC2022}" type="pres">
      <dgm:prSet presAssocID="{4BF886BD-89A7-4758-959F-7614C29373A4}" presName="descendantText" presStyleLbl="alignNode1" presStyleIdx="1" presStyleCnt="4">
        <dgm:presLayoutVars>
          <dgm:bulletEnabled/>
        </dgm:presLayoutVars>
      </dgm:prSet>
      <dgm:spPr/>
    </dgm:pt>
    <dgm:pt modelId="{C38A03B4-9E41-4905-8CD3-0219FB36ECD8}" type="pres">
      <dgm:prSet presAssocID="{C0268157-6054-4230-92DD-130FCA8470A7}" presName="sp" presStyleCnt="0"/>
      <dgm:spPr/>
    </dgm:pt>
    <dgm:pt modelId="{ADA1C4E9-D9E4-4212-81EC-5A81460BCC22}" type="pres">
      <dgm:prSet presAssocID="{B0338473-8A44-4B57-ACF1-40D989AD3E78}" presName="linNode" presStyleCnt="0"/>
      <dgm:spPr/>
    </dgm:pt>
    <dgm:pt modelId="{1C8A8DD2-9E78-4343-9824-9CCB5A649151}" type="pres">
      <dgm:prSet presAssocID="{B0338473-8A44-4B57-ACF1-40D989AD3E78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82F1F832-0B91-4A5F-BB05-741D184B3D24}" type="pres">
      <dgm:prSet presAssocID="{B0338473-8A44-4B57-ACF1-40D989AD3E78}" presName="descendantText" presStyleLbl="alignNode1" presStyleIdx="2" presStyleCnt="4">
        <dgm:presLayoutVars>
          <dgm:bulletEnabled/>
        </dgm:presLayoutVars>
      </dgm:prSet>
      <dgm:spPr/>
    </dgm:pt>
    <dgm:pt modelId="{949A6DFF-6207-443E-94C5-6391333A29A8}" type="pres">
      <dgm:prSet presAssocID="{3CEB6D7D-79C9-4FFC-BFF9-FF16EB3C5ACC}" presName="sp" presStyleCnt="0"/>
      <dgm:spPr/>
    </dgm:pt>
    <dgm:pt modelId="{4AE0A55C-D20A-4968-8AAB-664674A444BD}" type="pres">
      <dgm:prSet presAssocID="{EDF7C4E9-5E7B-4681-A9B6-C3038C59AE08}" presName="linNode" presStyleCnt="0"/>
      <dgm:spPr/>
    </dgm:pt>
    <dgm:pt modelId="{95850DD9-DB43-4E75-B076-6D2177A0E97F}" type="pres">
      <dgm:prSet presAssocID="{EDF7C4E9-5E7B-4681-A9B6-C3038C59AE08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DE588F6E-EC6B-469A-BE43-9439EE8F808A}" type="pres">
      <dgm:prSet presAssocID="{EDF7C4E9-5E7B-4681-A9B6-C3038C59AE08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94ECD602-C28B-4BEF-8797-AF683B4A952D}" srcId="{31240B09-11FB-4BC2-8E4A-E33D60C2E66F}" destId="{4BF886BD-89A7-4758-959F-7614C29373A4}" srcOrd="1" destOrd="0" parTransId="{6ED60F48-6AE6-432C-92BA-AECC99D2DEB0}" sibTransId="{C0268157-6054-4230-92DD-130FCA8470A7}"/>
    <dgm:cxn modelId="{2359F21E-6BDC-45FC-A0C5-A312E9B17142}" srcId="{EDF7C4E9-5E7B-4681-A9B6-C3038C59AE08}" destId="{5C174307-BFA7-4825-9B52-FB499571676A}" srcOrd="0" destOrd="0" parTransId="{585BD00F-7F8B-41F1-A6E3-2146FFE1A5AB}" sibTransId="{616401A6-5F0D-4940-A860-7DA3EA0DB3ED}"/>
    <dgm:cxn modelId="{B6F8B721-814C-4B19-8AAA-922A0BC64858}" srcId="{31240B09-11FB-4BC2-8E4A-E33D60C2E66F}" destId="{EDF7C4E9-5E7B-4681-A9B6-C3038C59AE08}" srcOrd="3" destOrd="0" parTransId="{63117557-9080-4F42-BC99-17C357A8D33D}" sibTransId="{F510790A-8829-443E-A487-7FF86CDAA703}"/>
    <dgm:cxn modelId="{226C1C41-C71D-498F-A092-3432F0B554FC}" type="presOf" srcId="{EDF7C4E9-5E7B-4681-A9B6-C3038C59AE08}" destId="{95850DD9-DB43-4E75-B076-6D2177A0E97F}" srcOrd="0" destOrd="0" presId="urn:microsoft.com/office/officeart/2016/7/layout/VerticalHollowActionList"/>
    <dgm:cxn modelId="{69F58467-CD93-4807-87B8-00AB8D0AB737}" type="presOf" srcId="{5C174307-BFA7-4825-9B52-FB499571676A}" destId="{DE588F6E-EC6B-469A-BE43-9439EE8F808A}" srcOrd="0" destOrd="0" presId="urn:microsoft.com/office/officeart/2016/7/layout/VerticalHollowActionList"/>
    <dgm:cxn modelId="{9441827B-1741-46A8-955A-7DC20B7B447C}" type="presOf" srcId="{0483ED7C-9CCF-4574-B8F6-C7987006CDF9}" destId="{EACE4C30-8512-494E-9581-B93B3573C0BB}" srcOrd="0" destOrd="0" presId="urn:microsoft.com/office/officeart/2016/7/layout/VerticalHollowActionList"/>
    <dgm:cxn modelId="{09958487-7A43-4F60-9E2C-90CD286EA7A2}" type="presOf" srcId="{1269F515-0930-4911-91E5-72ABD1476E10}" destId="{9D417831-F17C-4293-B468-3898BEAC2022}" srcOrd="0" destOrd="0" presId="urn:microsoft.com/office/officeart/2016/7/layout/VerticalHollowActionList"/>
    <dgm:cxn modelId="{CA826C89-1E97-4D7F-8452-3434192DBF5E}" type="presOf" srcId="{54896B44-28FF-4670-BA93-2F555EB85D5D}" destId="{B55BDD6E-38FA-43CC-BDDF-BB2B62E0C970}" srcOrd="0" destOrd="0" presId="urn:microsoft.com/office/officeart/2016/7/layout/VerticalHollowActionList"/>
    <dgm:cxn modelId="{1B2FE789-1B0D-410A-9B6A-8443DF956742}" type="presOf" srcId="{B09D0B32-5CCC-4761-88A6-C79622F6BBAB}" destId="{82F1F832-0B91-4A5F-BB05-741D184B3D24}" srcOrd="0" destOrd="0" presId="urn:microsoft.com/office/officeart/2016/7/layout/VerticalHollowActionList"/>
    <dgm:cxn modelId="{72962EA3-551C-4DDB-851A-4C28F76E224C}" type="presOf" srcId="{4BF886BD-89A7-4758-959F-7614C29373A4}" destId="{2FBE725D-9ABD-4CC6-A50C-F832B104DEA5}" srcOrd="0" destOrd="0" presId="urn:microsoft.com/office/officeart/2016/7/layout/VerticalHollowActionList"/>
    <dgm:cxn modelId="{1B0D82A3-8137-4737-8EFE-4D8CD534755D}" srcId="{0483ED7C-9CCF-4574-B8F6-C7987006CDF9}" destId="{54896B44-28FF-4670-BA93-2F555EB85D5D}" srcOrd="0" destOrd="0" parTransId="{514902D1-76ED-4D65-B798-24468E6EF021}" sibTransId="{0C661F5E-A2E6-4558-9F56-0C2BC80913E6}"/>
    <dgm:cxn modelId="{7C4BA1BE-5DD3-4505-B2EA-7F29B22373AD}" srcId="{31240B09-11FB-4BC2-8E4A-E33D60C2E66F}" destId="{B0338473-8A44-4B57-ACF1-40D989AD3E78}" srcOrd="2" destOrd="0" parTransId="{AA674947-24E5-49C6-8AA0-614EBDE08142}" sibTransId="{3CEB6D7D-79C9-4FFC-BFF9-FF16EB3C5ACC}"/>
    <dgm:cxn modelId="{2834C7C1-1176-450C-9D26-CA8F83D491AE}" srcId="{4BF886BD-89A7-4758-959F-7614C29373A4}" destId="{1269F515-0930-4911-91E5-72ABD1476E10}" srcOrd="0" destOrd="0" parTransId="{252BCB7B-844E-499B-9E95-FED026242589}" sibTransId="{54A2DC3F-CE7F-41D0-8A12-A0CA70E2FDBB}"/>
    <dgm:cxn modelId="{5250B2D4-343A-4140-A974-44A103C86C62}" srcId="{31240B09-11FB-4BC2-8E4A-E33D60C2E66F}" destId="{0483ED7C-9CCF-4574-B8F6-C7987006CDF9}" srcOrd="0" destOrd="0" parTransId="{A631DB32-61DA-4A93-A8CE-D52D32E9DB25}" sibTransId="{1C10D1F1-04EB-43C7-8D23-EFDA8C92E3AE}"/>
    <dgm:cxn modelId="{690FA0ED-88C0-4CDF-999E-F7D03BE85A83}" srcId="{B0338473-8A44-4B57-ACF1-40D989AD3E78}" destId="{B09D0B32-5CCC-4761-88A6-C79622F6BBAB}" srcOrd="0" destOrd="0" parTransId="{273AE486-3416-4188-AF9D-5D45C73D9DE7}" sibTransId="{D7F4E5D1-1923-4547-8ACB-A3D7F376F262}"/>
    <dgm:cxn modelId="{3E81F3F3-EDC3-4325-8B79-0BA6708B514D}" type="presOf" srcId="{B0338473-8A44-4B57-ACF1-40D989AD3E78}" destId="{1C8A8DD2-9E78-4343-9824-9CCB5A649151}" srcOrd="0" destOrd="0" presId="urn:microsoft.com/office/officeart/2016/7/layout/VerticalHollowActionList"/>
    <dgm:cxn modelId="{357288FE-09AB-417B-B913-83301783154E}" type="presOf" srcId="{31240B09-11FB-4BC2-8E4A-E33D60C2E66F}" destId="{C940A37F-CF53-40F4-BF27-C3143C325598}" srcOrd="0" destOrd="0" presId="urn:microsoft.com/office/officeart/2016/7/layout/VerticalHollowActionList"/>
    <dgm:cxn modelId="{CCB3B706-974C-4007-A6DF-58A3F7A839EE}" type="presParOf" srcId="{C940A37F-CF53-40F4-BF27-C3143C325598}" destId="{BFF9F3FA-9851-4298-9C91-CB3D808A7C08}" srcOrd="0" destOrd="0" presId="urn:microsoft.com/office/officeart/2016/7/layout/VerticalHollowActionList"/>
    <dgm:cxn modelId="{9F08A763-AB0A-42B8-B9A9-886C4B01B731}" type="presParOf" srcId="{BFF9F3FA-9851-4298-9C91-CB3D808A7C08}" destId="{EACE4C30-8512-494E-9581-B93B3573C0BB}" srcOrd="0" destOrd="0" presId="urn:microsoft.com/office/officeart/2016/7/layout/VerticalHollowActionList"/>
    <dgm:cxn modelId="{5C3A406C-9516-4D3A-8C10-45BE113EE4A3}" type="presParOf" srcId="{BFF9F3FA-9851-4298-9C91-CB3D808A7C08}" destId="{B55BDD6E-38FA-43CC-BDDF-BB2B62E0C970}" srcOrd="1" destOrd="0" presId="urn:microsoft.com/office/officeart/2016/7/layout/VerticalHollowActionList"/>
    <dgm:cxn modelId="{C2683C64-A7E5-4BE8-A9ED-40195D6F918E}" type="presParOf" srcId="{C940A37F-CF53-40F4-BF27-C3143C325598}" destId="{CBF5E24D-D7CF-4834-9AAD-F69FABB66167}" srcOrd="1" destOrd="0" presId="urn:microsoft.com/office/officeart/2016/7/layout/VerticalHollowActionList"/>
    <dgm:cxn modelId="{3118FDF2-CAA7-49DF-9E23-7BADCAE98CE7}" type="presParOf" srcId="{C940A37F-CF53-40F4-BF27-C3143C325598}" destId="{023EF5E8-B2E1-4841-B1E9-92BDDAA09F18}" srcOrd="2" destOrd="0" presId="urn:microsoft.com/office/officeart/2016/7/layout/VerticalHollowActionList"/>
    <dgm:cxn modelId="{FFA4FDB9-4AC8-40AC-B213-5D84CC62D768}" type="presParOf" srcId="{023EF5E8-B2E1-4841-B1E9-92BDDAA09F18}" destId="{2FBE725D-9ABD-4CC6-A50C-F832B104DEA5}" srcOrd="0" destOrd="0" presId="urn:microsoft.com/office/officeart/2016/7/layout/VerticalHollowActionList"/>
    <dgm:cxn modelId="{108C15C5-F423-4E01-8D3A-5C7A1AF72C8A}" type="presParOf" srcId="{023EF5E8-B2E1-4841-B1E9-92BDDAA09F18}" destId="{9D417831-F17C-4293-B468-3898BEAC2022}" srcOrd="1" destOrd="0" presId="urn:microsoft.com/office/officeart/2016/7/layout/VerticalHollowActionList"/>
    <dgm:cxn modelId="{87BCD300-C297-480E-B78A-B60CD7BCF93E}" type="presParOf" srcId="{C940A37F-CF53-40F4-BF27-C3143C325598}" destId="{C38A03B4-9E41-4905-8CD3-0219FB36ECD8}" srcOrd="3" destOrd="0" presId="urn:microsoft.com/office/officeart/2016/7/layout/VerticalHollowActionList"/>
    <dgm:cxn modelId="{0FF22F63-2910-4CD5-AE96-BB0CCFAEDB15}" type="presParOf" srcId="{C940A37F-CF53-40F4-BF27-C3143C325598}" destId="{ADA1C4E9-D9E4-4212-81EC-5A81460BCC22}" srcOrd="4" destOrd="0" presId="urn:microsoft.com/office/officeart/2016/7/layout/VerticalHollowActionList"/>
    <dgm:cxn modelId="{EBE59EDF-3EF2-4BA8-85D6-9259FB26DB7C}" type="presParOf" srcId="{ADA1C4E9-D9E4-4212-81EC-5A81460BCC22}" destId="{1C8A8DD2-9E78-4343-9824-9CCB5A649151}" srcOrd="0" destOrd="0" presId="urn:microsoft.com/office/officeart/2016/7/layout/VerticalHollowActionList"/>
    <dgm:cxn modelId="{58CCF467-137D-4074-9AC9-615AF01FA68F}" type="presParOf" srcId="{ADA1C4E9-D9E4-4212-81EC-5A81460BCC22}" destId="{82F1F832-0B91-4A5F-BB05-741D184B3D24}" srcOrd="1" destOrd="0" presId="urn:microsoft.com/office/officeart/2016/7/layout/VerticalHollowActionList"/>
    <dgm:cxn modelId="{F528C40F-3D11-4147-BCC4-99DAD0369494}" type="presParOf" srcId="{C940A37F-CF53-40F4-BF27-C3143C325598}" destId="{949A6DFF-6207-443E-94C5-6391333A29A8}" srcOrd="5" destOrd="0" presId="urn:microsoft.com/office/officeart/2016/7/layout/VerticalHollowActionList"/>
    <dgm:cxn modelId="{82F260CA-990F-4526-8CF9-0829AA7ABF7B}" type="presParOf" srcId="{C940A37F-CF53-40F4-BF27-C3143C325598}" destId="{4AE0A55C-D20A-4968-8AAB-664674A444BD}" srcOrd="6" destOrd="0" presId="urn:microsoft.com/office/officeart/2016/7/layout/VerticalHollowActionList"/>
    <dgm:cxn modelId="{C2A149A5-D1C8-488B-92C6-9CCA8C84CAEF}" type="presParOf" srcId="{4AE0A55C-D20A-4968-8AAB-664674A444BD}" destId="{95850DD9-DB43-4E75-B076-6D2177A0E97F}" srcOrd="0" destOrd="0" presId="urn:microsoft.com/office/officeart/2016/7/layout/VerticalHollowActionList"/>
    <dgm:cxn modelId="{4E43037D-2038-45A4-8FB5-F2C3F46E8CBF}" type="presParOf" srcId="{4AE0A55C-D20A-4968-8AAB-664674A444BD}" destId="{DE588F6E-EC6B-469A-BE43-9439EE8F808A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BDD6E-38FA-43CC-BDDF-BB2B62E0C970}">
      <dsp:nvSpPr>
        <dsp:cNvPr id="0" name=""/>
        <dsp:cNvSpPr/>
      </dsp:nvSpPr>
      <dsp:spPr>
        <a:xfrm>
          <a:off x="2185565" y="1934"/>
          <a:ext cx="8742263" cy="10021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Detect unseen attack behaviors </a:t>
          </a:r>
        </a:p>
      </dsp:txBody>
      <dsp:txXfrm>
        <a:off x="2185565" y="1934"/>
        <a:ext cx="8742263" cy="1002137"/>
      </dsp:txXfrm>
    </dsp:sp>
    <dsp:sp modelId="{EACE4C30-8512-494E-9581-B93B3573C0BB}">
      <dsp:nvSpPr>
        <dsp:cNvPr id="0" name=""/>
        <dsp:cNvSpPr/>
      </dsp:nvSpPr>
      <dsp:spPr>
        <a:xfrm>
          <a:off x="0" y="1934"/>
          <a:ext cx="2185565" cy="1002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Detect</a:t>
          </a:r>
        </a:p>
      </dsp:txBody>
      <dsp:txXfrm>
        <a:off x="0" y="1934"/>
        <a:ext cx="2185565" cy="1002137"/>
      </dsp:txXfrm>
    </dsp:sp>
    <dsp:sp modelId="{9D417831-F17C-4293-B468-3898BEAC2022}">
      <dsp:nvSpPr>
        <dsp:cNvPr id="0" name=""/>
        <dsp:cNvSpPr/>
      </dsp:nvSpPr>
      <dsp:spPr>
        <a:xfrm>
          <a:off x="2185565" y="1064200"/>
          <a:ext cx="8742263" cy="1002137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SOC alert overload &amp; false positives </a:t>
          </a:r>
        </a:p>
      </dsp:txBody>
      <dsp:txXfrm>
        <a:off x="2185565" y="1064200"/>
        <a:ext cx="8742263" cy="1002137"/>
      </dsp:txXfrm>
    </dsp:sp>
    <dsp:sp modelId="{2FBE725D-9ABD-4CC6-A50C-F832B104DEA5}">
      <dsp:nvSpPr>
        <dsp:cNvPr id="0" name=""/>
        <dsp:cNvSpPr/>
      </dsp:nvSpPr>
      <dsp:spPr>
        <a:xfrm>
          <a:off x="0" y="1064200"/>
          <a:ext cx="2185565" cy="1002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Reduce</a:t>
          </a:r>
        </a:p>
      </dsp:txBody>
      <dsp:txXfrm>
        <a:off x="0" y="1064200"/>
        <a:ext cx="2185565" cy="1002137"/>
      </dsp:txXfrm>
    </dsp:sp>
    <dsp:sp modelId="{82F1F832-0B91-4A5F-BB05-741D184B3D24}">
      <dsp:nvSpPr>
        <dsp:cNvPr id="0" name=""/>
        <dsp:cNvSpPr/>
      </dsp:nvSpPr>
      <dsp:spPr>
        <a:xfrm>
          <a:off x="2185565" y="2126466"/>
          <a:ext cx="8742263" cy="1002137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Make AI-generated security reasoning trustworthy </a:t>
          </a:r>
        </a:p>
      </dsp:txBody>
      <dsp:txXfrm>
        <a:off x="2185565" y="2126466"/>
        <a:ext cx="8742263" cy="1002137"/>
      </dsp:txXfrm>
    </dsp:sp>
    <dsp:sp modelId="{1C8A8DD2-9E78-4343-9824-9CCB5A649151}">
      <dsp:nvSpPr>
        <dsp:cNvPr id="0" name=""/>
        <dsp:cNvSpPr/>
      </dsp:nvSpPr>
      <dsp:spPr>
        <a:xfrm>
          <a:off x="0" y="2126466"/>
          <a:ext cx="2185565" cy="1002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Make</a:t>
          </a:r>
        </a:p>
      </dsp:txBody>
      <dsp:txXfrm>
        <a:off x="0" y="2126466"/>
        <a:ext cx="2185565" cy="1002137"/>
      </dsp:txXfrm>
    </dsp:sp>
    <dsp:sp modelId="{DE588F6E-EC6B-469A-BE43-9439EE8F808A}">
      <dsp:nvSpPr>
        <dsp:cNvPr id="0" name=""/>
        <dsp:cNvSpPr/>
      </dsp:nvSpPr>
      <dsp:spPr>
        <a:xfrm>
          <a:off x="2185565" y="3188732"/>
          <a:ext cx="8742263" cy="1002137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 evidence-backed security decisions</a:t>
          </a:r>
        </a:p>
      </dsp:txBody>
      <dsp:txXfrm>
        <a:off x="2185565" y="3188732"/>
        <a:ext cx="8742263" cy="1002137"/>
      </dsp:txXfrm>
    </dsp:sp>
    <dsp:sp modelId="{95850DD9-DB43-4E75-B076-6D2177A0E97F}">
      <dsp:nvSpPr>
        <dsp:cNvPr id="0" name=""/>
        <dsp:cNvSpPr/>
      </dsp:nvSpPr>
      <dsp:spPr>
        <a:xfrm>
          <a:off x="0" y="3188732"/>
          <a:ext cx="2185565" cy="1002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</a:t>
          </a:r>
        </a:p>
      </dsp:txBody>
      <dsp:txXfrm>
        <a:off x="0" y="3188732"/>
        <a:ext cx="2185565" cy="1002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3400" kern="1200" err="1">
                <a:latin typeface="+mj-lt"/>
                <a:ea typeface="+mj-ea"/>
                <a:cs typeface="+mj-cs"/>
              </a:rPr>
              <a:t>ZeroShield</a:t>
            </a:r>
            <a:r>
              <a:rPr lang="en-US" sz="3400" kern="1200">
                <a:latin typeface="+mj-lt"/>
                <a:ea typeface="+mj-ea"/>
                <a:cs typeface="+mj-cs"/>
              </a:rPr>
              <a:t> AI: An Explainable Framework for Zero-Day Threat Detection</a:t>
            </a:r>
            <a:br>
              <a:rPr lang="en-US" sz="3400"/>
            </a:br>
            <a:endParaRPr lang="en-US" sz="3400" kern="120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2656" y="3676787"/>
            <a:ext cx="4878792" cy="2699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/>
              <a:t>Presented by: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Sarah Thomas-BL.EN.U4EAC23049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Samvrudha RR-BL.EN.U4EAC23052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Sashank Abburru-BL.EN.U4EAC23053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F6B0B-49D9-8E7D-8C49-D9A3F4C3B217}"/>
              </a:ext>
            </a:extLst>
          </p:cNvPr>
          <p:cNvSpPr txBox="1"/>
          <p:nvPr/>
        </p:nvSpPr>
        <p:spPr>
          <a:xfrm>
            <a:off x="7888179" y="3677944"/>
            <a:ext cx="3117312" cy="26999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Guided by: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Dr. Susmitha </a:t>
            </a:r>
            <a:r>
              <a:rPr lang="en-US" sz="2000" err="1"/>
              <a:t>Vekkot</a:t>
            </a:r>
            <a:endParaRPr lang="en-US" sz="2000"/>
          </a:p>
        </p:txBody>
      </p:sp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D866CAE9-88B6-2D71-5902-1D19F1F4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46E58-9974-AF46-4A10-1D28C1AA29A9}"/>
              </a:ext>
            </a:extLst>
          </p:cNvPr>
          <p:cNvSpPr txBox="1"/>
          <p:nvPr/>
        </p:nvSpPr>
        <p:spPr>
          <a:xfrm>
            <a:off x="1675586" y="2700225"/>
            <a:ext cx="64414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Project Phase-1 19EAC498</a:t>
            </a:r>
          </a:p>
          <a:p>
            <a:pPr algn="ctr"/>
            <a:r>
              <a:rPr lang="en-US" sz="2000"/>
              <a:t> </a:t>
            </a:r>
            <a:r>
              <a:rPr lang="en-US" sz="2000">
                <a:ea typeface="Calibri"/>
                <a:cs typeface="Calibri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1 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B7138-B8F1-AD97-3D6B-4D9C65C2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524E6-67B4-0A40-CF73-B1DC0BEC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6BB952-AD9A-39BA-2CAB-797031407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924" y="1709341"/>
            <a:ext cx="10861081" cy="4709112"/>
          </a:xfrm>
          <a:prstGeom prst="rect">
            <a:avLst/>
          </a:prstGeom>
        </p:spPr>
      </p:pic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5347E0C6-DEB6-F822-820A-5696EE0C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7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40508F-92EA-4633-3051-8CF758FC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INDUSTRY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97422-E6CF-4918-6029-C1746BE7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78" y="2121479"/>
            <a:ext cx="6083098" cy="4079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5C8A8-A23D-769C-2AC3-9FE0887505BD}"/>
              </a:ext>
            </a:extLst>
          </p:cNvPr>
          <p:cNvSpPr txBox="1"/>
          <p:nvPr/>
        </p:nvSpPr>
        <p:spPr>
          <a:xfrm>
            <a:off x="6696737" y="2669160"/>
            <a:ext cx="4747218" cy="138526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WHY IT MATTERS</a:t>
            </a:r>
            <a:endParaRPr lang="en-US" sz="20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Too many alerts</a:t>
            </a:r>
            <a:br>
              <a:rPr lang="en-US" sz="2000"/>
            </a:br>
            <a:r>
              <a:rPr lang="en-US" sz="2000"/>
              <a:t>                ↓</a:t>
            </a:r>
            <a:br>
              <a:rPr lang="en-US" sz="2000"/>
            </a:br>
            <a:r>
              <a:rPr lang="en-US" sz="2000" b="1"/>
              <a:t>Limited analyst attention</a:t>
            </a:r>
            <a:br>
              <a:rPr lang="en-US" sz="2000"/>
            </a:br>
            <a:r>
              <a:rPr lang="en-US" sz="2000"/>
              <a:t>                ↓</a:t>
            </a:r>
            <a:br>
              <a:rPr lang="en-US" sz="2000"/>
            </a:br>
            <a:r>
              <a:rPr lang="en-US" sz="2000" b="1"/>
              <a:t>Important threats can be missed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real challenge is not alert generation — it is prioritizing and understanding the alerts that matter.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9" name="Picture 8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E22B0AB9-2F32-B15F-8EE2-2AA822808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8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AC2F9-0C49-C34A-07F1-D127BA3B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7BA8E-256A-4F84-DFA7-C2464C97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AI is Changing Security Operations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FF69B83-6CE7-200B-BB10-37E3597C8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220" y="806672"/>
            <a:ext cx="10726699" cy="5246244"/>
          </a:xfrm>
          <a:prstGeom prst="rect">
            <a:avLst/>
          </a:prstGeom>
        </p:spPr>
      </p:pic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34715F80-C221-1EC8-870E-7D46C33AC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8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0D8D2-900A-EA5E-A03D-22C5284F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nds holding each other's wrists and interlinked to form a circle">
            <a:extLst>
              <a:ext uri="{FF2B5EF4-FFF2-40B4-BE49-F238E27FC236}">
                <a16:creationId xmlns:a16="http://schemas.microsoft.com/office/drawing/2014/main" id="{C12A2272-5FCF-EDD6-8674-8E8DBF12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" r="23063" b="892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C974DE-C473-4140-DFD4-8EE9870D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Can We Trust the AI's Verdict?”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C0EDBD4D-D999-24BB-CDB1-23F16C208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5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F72F4-8C89-D580-9106-A72594784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Motivation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B1595A-099A-8B56-C5C2-D7ABF0955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9711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" name="Picture 35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1A402565-AD2A-0D8B-6BBB-70539F0231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9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260028-3006-AF9E-AA1C-E3A7458B3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890" y="794198"/>
            <a:ext cx="10428171" cy="5198497"/>
          </a:xfrm>
          <a:prstGeom prst="rect">
            <a:avLst/>
          </a:prstGeom>
        </p:spPr>
      </p:pic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3BA6E2F2-600D-0315-DE1C-4E610556D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30" y="-3056"/>
            <a:ext cx="2743196" cy="6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65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B3FC4-9AFB-D115-C20E-F9FE95D5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E73FAD-BFB7-4788-1B37-9778EC89F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21503"/>
              </p:ext>
            </p:extLst>
          </p:nvPr>
        </p:nvGraphicFramePr>
        <p:xfrm>
          <a:off x="10438" y="1544876"/>
          <a:ext cx="12217144" cy="530862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4586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8979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18473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36084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8253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31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774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M. Lisha, V. Agarwal, S.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Kamthania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P.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Vutkur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and M. S. Chari, “Benchmarking LLM for zero-day vulnerabilities,”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2024 IEEE Int. 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Conf.Electronics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Computing and Communication Technologies (CONECCT)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Bengaluru, India, 2024, pp. 1–6, doi:10.1109/CONECCT62155.2024.10677338.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Detecting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zero-day vulnerabilities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that are not available in conventional CVE/NVD databases.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Benchmarks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GPT-3, T5, BERT and </a:t>
                      </a:r>
                      <a:r>
                        <a:rPr lang="en-US" sz="1600" b="1" cap="none" spc="0" err="1">
                          <a:solidFill>
                            <a:schemeClr val="tx1"/>
                          </a:solidFill>
                        </a:rPr>
                        <a:t>XLNet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for vulnerability detection and generation of mitigation recommendations.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Fine-tunes the models using the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CISA 2022 vulnerability dataset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and evaluates them through unstructured queries, threat analysis and semantic search.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GPT-3 and T5 performed best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, especially for unrecorded/zero-day vulnerabilities; BERT and </a:t>
                      </a:r>
                      <a:r>
                        <a:rPr lang="en-US" sz="1600" cap="none" spc="0" err="1">
                          <a:solidFill>
                            <a:schemeClr val="tx1"/>
                          </a:solidFill>
                        </a:rPr>
                        <a:t>XLNet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performed comparatively weaker.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Limited hardware and computational resources; needs better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scalability, continual learning, robustness and explainability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for evolving threats.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94A3225A-B436-AEA7-351C-A45A3781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4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3E45A-5C23-6A0B-494F-D0E7B419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B91083-31D2-CEBF-9349-2EF332DD8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D7005-D988-FAAB-EDB7-3A1FE2719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DBCCC5-22E1-A8C5-4ED1-1B3D3782C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109F36-A21A-81A9-1731-7000EC570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82C0B-60B4-EB71-E039-613D60C6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</a:t>
            </a: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 Survey &amp; Summary</a:t>
            </a:r>
            <a:endParaRPr lang="en-US" sz="4000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7D8BE15-6205-A528-E2A8-90DA35A06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306972"/>
              </p:ext>
            </p:extLst>
          </p:nvPr>
        </p:nvGraphicFramePr>
        <p:xfrm>
          <a:off x="-10438" y="1576191"/>
          <a:ext cx="12231162" cy="529307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6668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700928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21134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38306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33557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20569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083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Enhancing network security through deep learning: Mitigating feature engineering and zero-day attacks,” </a:t>
                      </a:r>
                      <a:r>
                        <a:rPr lang="en-US" sz="14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in</a:t>
                      </a:r>
                      <a:r>
                        <a:rPr lang="en-US" sz="14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Proc</a:t>
                      </a:r>
                      <a:r>
                        <a:rPr lang="en-US" sz="14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. 4th Int. Conf. Intelligent Cybersecurity (ICSC)</a:t>
                      </a:r>
                      <a:r>
                        <a:rPr lang="en-US" sz="14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Valencia, Spain, 2024, pp. 127–131, </a:t>
                      </a:r>
                      <a:r>
                        <a:rPr lang="en-US" sz="14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4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10.1109/ICSC63108.2024.10895964.</a:t>
                      </a:r>
                      <a:endParaRPr lang="en-US" sz="1400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Traditional IDS relies on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handcrafted features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which are time-consuming, require expert knowledge and may fail against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unseen/zero-day attacks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raw network traffic flows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to detect malicious traffic, classify malware and identify unseen attacks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without manual feature engineering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Converts PCAP traffic into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sessions/flows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represents bytes numerically, selects the first two packets and feeds them to a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1D-CNN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 Zero-day detection is simulated by excluding one malware class during training and testing on it.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100%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malicious-traffic detection,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97%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classification of 10 malware types, and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99.6%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detection on malware from a separate dataset.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Needs validation on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larger and more diverse network conditions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 Real-time deployment, scalability and integration with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real-time detection/response systems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remain open.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189B095C-2D0F-BDBC-A276-E5D2F948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0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5421E-A719-24FA-53DC-0F8F6052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C1EC86-8DDA-B7C4-F057-90675DABE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F6D7E1-AE20-A263-D6FF-A91A3E0BA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7502A-10FA-0DF2-9ACE-E6503EDC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746F42-DB8C-3142-E53E-667C54F04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13A13-7E95-1BDC-8A13-6932AB9B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6" y="255823"/>
            <a:ext cx="11141709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</a:t>
            </a: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 Survey &amp; Summary</a:t>
            </a:r>
            <a:endParaRPr lang="en-US" sz="4000">
              <a:solidFill>
                <a:srgbClr val="000000"/>
              </a:solidFill>
              <a:ea typeface="+mj-lt"/>
              <a:cs typeface="+mj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9ED946-BF77-B935-A918-371D666FD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072921"/>
              </p:ext>
            </p:extLst>
          </p:nvPr>
        </p:nvGraphicFramePr>
        <p:xfrm>
          <a:off x="20876" y="1576191"/>
          <a:ext cx="12203135" cy="527911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2505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7030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15815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33865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7981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5939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8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4964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C. K. Sruthi, A. Ravikumar, and H. Sriraman, “Enhancing zero-day attack detection with XAI-driven ML models and SMOTE analysis,”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3rdInt. Conf. Artificial Intelligence for Internet of Things (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AIIoT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2024, pp. 1–5,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10.1109/AIIoT58432.2024.10574566. </a:t>
                      </a:r>
                      <a:endParaRPr lang="en-US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Detecting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zero-day attacks in IoT networks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where attack patterns are absent from the training data. Also addresses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class imbalance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and lack of model interpretability.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Compares ML/DL models for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binary and multiclass zero-day attack detection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while using XAI to understand which features influence predictions.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1600" b="1" i="0" u="none" strike="noStrike" cap="none" spc="0" noProof="0" err="1">
                          <a:solidFill>
                            <a:schemeClr val="tx1"/>
                          </a:solidFill>
                        </a:rPr>
                        <a:t>BoT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-IoT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applies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SMOTE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to balance classes, trains multiple ML/DL models, and uses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SHAP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to explain important features contributing to predictions.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CNN performed best for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binary unknown-attack detection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99.95% / 98.53%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. However,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multiclass detection remained difficult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especially for unseen Service Scan and Fingerprinting attacks.</a:t>
                      </a:r>
                      <a:endParaRPr lang="en-US"/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Multiclass zero-day detection still needs improvement. Requires better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generalization to unseen attack types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and the authors suggest grouping similar attacks and using XAI to improve/retrain models.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31D891CE-2460-8D2C-4147-72CBB332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1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10FDC-06E0-D67F-D700-7DC84951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7C1BD5-53D3-0852-BA5F-764A8FF56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E4F316-7D9D-1777-E4FD-4D099A663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97319A-0300-92BF-AD63-289DD02CF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CDB89B-C955-BC05-2758-BF8CDFFC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15A1C-3A1C-C8AC-AEAA-2AD21223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1141709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E74ED3-0423-EEF6-1A6A-382B6F32D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115885"/>
              </p:ext>
            </p:extLst>
          </p:nvPr>
        </p:nvGraphicFramePr>
        <p:xfrm>
          <a:off x="20876" y="1576191"/>
          <a:ext cx="12175098" cy="530844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8342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3131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189597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050317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2403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1308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71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3686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B. E. Özkan and İ. B.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Tolga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“Zero-day operational cyber readiness,”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15th Int. Conf. Cyber Conflict: Meeting Reality (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CyCon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Tallinn,Estonia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2023, pp. 199–215,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10.23919/CyCon58705.2023.10181814. </a:t>
                      </a:r>
                    </a:p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0" i="0" u="none" strike="noStrike" cap="none" spc="0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600" b="1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Detecting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zero-day attacks in IoT networks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where attack patterns are absent from the training data. Also addresses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class imbalance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and lack of model interpretability.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Proposes a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Zero-Day Readiness model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to evaluate and improve an organization's ability to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detect, respond to and recover from emerging cyber threats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Builds readiness around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resilience, detection, response, recovery, threat hunting, training, automation and offensive testing/red-teaming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Emphasizes that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detection and response capability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rather than only preventive security, is essential for zero-day readiness.</a:t>
                      </a:r>
                      <a:endParaRPr lang="en-US">
                        <a:latin typeface="Aptos"/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is primarily a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strategic/operational framework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not an end-to-end AI-based zero-day detection system. It leaves scope for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automated, AI-driven detection, response and real-time implementation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4E157F0F-245E-2D67-3645-B9088E25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83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79CAB-F58C-0181-6EE3-41812F81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62C083-E7DC-3096-CE02-4F02EE208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933E08-5015-CA60-E582-A7698FD57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DB648F-7A82-C706-A0AA-1BE3A9E5C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C59870-A6BC-75CF-1FAB-0463C7857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A5EEE-826B-AE4C-D884-11C8A860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1141709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3E33C3-E80C-CF83-651B-10A66E39D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560256"/>
              </p:ext>
            </p:extLst>
          </p:nvPr>
        </p:nvGraphicFramePr>
        <p:xfrm>
          <a:off x="10438" y="1565753"/>
          <a:ext cx="12189113" cy="532246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0424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815556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192677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353501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003332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3623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86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3566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Pooja N. G., Vijayalakshmi A. Lepakshi, Kavitha M., Monika M., and Deeksha, “A review of unsupervised learning techniques for zero-day attack detection,”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3rd Int. Conf. Innovations in Cybersecurity and Data Science (ICICDS)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2026. </a:t>
                      </a:r>
                    </a:p>
                    <a:p>
                      <a:pPr lvl="0">
                        <a:buNone/>
                      </a:pPr>
                      <a:endParaRPr lang="en-US" sz="1600" b="1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Traditional signature-based and supervised methods struggle with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unknown attacks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because there are no signatures or training samples for new attack types.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Reviews existing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unsupervised learning techniques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for zero-day attack detection and organizes them into a structured taxonomy.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Analyzes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One-Class Classification, Autoencoder-based Deep Learning, and Ensemble/Hybrid approaches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, along with network-, host- and log-based detection methods.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Unsupervised methods can identify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unknown/anomalous behavior without predefined attack signatures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 and show strong potential for zero-day detection.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Challenges remain in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scalability, accuracy, false positives, limited datasets, real-time detection and adaptability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. Future work should focus on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</a:rPr>
                        <a:t>adaptive, continual, hybrid and automated AI-based systems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A3844BE5-3DF5-3D9A-D0F9-CF1BC0543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7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6CC4B-7527-BE9A-1BA1-A4C37596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0B92CD-4E87-F430-0003-D713E1ED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3DA58C-2639-EF92-4A62-DE48168BA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95CD12-E16B-EEC5-84CF-2E212F035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DF2B84-88DF-8F3D-2473-4CB63544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46D80-47DA-6119-960F-D6E81044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1141709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75B2A4-F66B-1767-65C6-BF5E2DC1C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849057"/>
              </p:ext>
            </p:extLst>
          </p:nvPr>
        </p:nvGraphicFramePr>
        <p:xfrm>
          <a:off x="0" y="1576191"/>
          <a:ext cx="12195511" cy="529307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11374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5971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14368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32655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6464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4679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0835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I. El Didi, F. Trad, and A. Chehab, “Enhancing network security through deep learning: Mitigating feature engineering and zero-day attacks,” 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in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Proc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. 4th Int. Conf. Intelligent Cybersecurity (ICSC)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Valencia, Spain, 2024, pp. 127–131,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10.1109/ICSC63108.2024.10895964. </a:t>
                      </a:r>
                    </a:p>
                    <a:p>
                      <a:pPr lvl="0">
                        <a:buNone/>
                      </a:pPr>
                      <a:endParaRPr lang="en-US" sz="1600" b="1" i="0" u="none" strike="noStrike" cap="none" spc="0" noProof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Traditional IDS relies on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handcrafted features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which are time-consuming, require expert knowledge and may fail against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unseen/zero-day attacks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raw network traffic flows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to detect malicious traffic, classify malware and identify unseen attacks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without manual feature engineering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Converts PCAP traffic into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sessions/flows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represents bytes numerically, selects the first two packets and feeds them to a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1D-CNN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 Zero-day detection is simulated by excluding one malware class during training and testing on it.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100%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malicious-traffic detection,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97%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classification of 10 malware types, and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99.6%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detection on malware from a separate dataset.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Needs validation on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larger and more diverse network conditions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 Real-time deployment, scalability and integration with </a:t>
                      </a:r>
                      <a:r>
                        <a:rPr lang="en-US" sz="16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real-time detection/response systems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remain open.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EDBB39BD-66EB-DA92-B7BE-F1E4BCFE7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9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7D586-E5DA-BB5C-D8D8-E8611EAB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C6ACDC-7852-C470-8189-65247B150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3E27F-F591-47D4-2A64-F62055870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4742D8-6ED2-D50F-F75A-ED108FF40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68B62-B75B-4A03-5C19-6859DB974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EDF82-3D35-EA90-C673-587A529F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 &amp;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E6D0EE-C750-4020-2FA5-C48CE253B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800104"/>
              </p:ext>
            </p:extLst>
          </p:nvPr>
        </p:nvGraphicFramePr>
        <p:xfrm>
          <a:off x="-10438" y="1565753"/>
          <a:ext cx="12210247" cy="5307969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048862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499232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011462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535563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147040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1968088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49135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H. Teymourlouei, D. Stone, and L. Jackson, “</a:t>
                      </a:r>
                      <a:r>
                        <a:rPr lang="en-US" sz="1300" b="1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Identifying zero-day attacks with machine learning and data reduction methods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2023Congress in Computer Science, Computer Engineering, &amp; Applied Computing (CSCE)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Las Vegas, NV, USA, 2023, pp. 2285–2290, doi:10.1109/CSCE60160.2023.00372. </a:t>
                      </a: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Zero-day attacks are difficult to detect because their behavior is previously unknown and generates large volumes of network events.</a:t>
                      </a:r>
                      <a:endParaRPr lang="en-US" b="0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uses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data reduction and deep-learning classification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to identify suspicious events and reduce the workload for security analysts.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uses statistical event reduction and a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neural network with SGD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, trained using the MTA-KDD dataset and network traffic features.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Data reduction decreased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1,924 events to 20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, while the deep-learning model achieved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over 97% accuracy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but still produced false positives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lacks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threat contextualization, explainable evidence, LLM-based reasoning, and automated verification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of security decisions.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8A7DBBDF-96BA-47B4-8205-F4826F5A9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95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5BE35-2FB8-D65E-6D47-0A51AF0B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52E214-5C8F-8A48-D879-0BD84DC79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277E3-0F92-5698-1C43-042A40560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67652B-C47F-03EF-A720-A6F598AF1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2A31F-FBC8-567F-F100-6EAE2DB20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E96DF-F8D6-5AD2-43AD-91C9C7C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 &amp;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BB6E03-EE29-09F1-55AB-E2B9B5D85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153212"/>
              </p:ext>
            </p:extLst>
          </p:nvPr>
        </p:nvGraphicFramePr>
        <p:xfrm>
          <a:off x="10438" y="1565753"/>
          <a:ext cx="12168203" cy="5294614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21701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30012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1988700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526832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139647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1961311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8044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49018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S. Mohanta, S. K. Mohapatra, R. K. Mohanta, S.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Tewary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S. Bharadwaj, and S. Chakravarty, “</a:t>
                      </a:r>
                      <a:r>
                        <a:rPr lang="en-US" sz="1300" b="1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An adaptive framework with optimized machine learning models for real-time zero-day cyber threat detection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1st Int. Conf. Intelligent Computing, Networks and Security (IC-ICNS)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2026,doi: 10.1109/IC-ICNS68863.2026.11537623. </a:t>
                      </a: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paper addresses the challenge of detecting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previously unseen zero-day threats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that can bypass traditional signature-based security mechanisms.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develops an optimized ML framework using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CIC-Darknet2020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to classify suspicious darknet network traffic.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combines multiple ML classifiers with </a:t>
                      </a:r>
                      <a:r>
                        <a:rPr lang="en-US" sz="1500" b="1" i="0" u="none" strike="noStrike" cap="none" spc="0" noProof="0" err="1">
                          <a:solidFill>
                            <a:schemeClr val="tx1"/>
                          </a:solidFill>
                        </a:rPr>
                        <a:t>Optuna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 hyperparameter optimization and voting/stacking ensemble techniques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stacking ensemble achieved 98.36% accuracy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, demonstrating strong performance in zero-day threat classification.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focuses on detection accuracy but lacks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behavioral explainability, threat-intelligence context, and self-verification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of security verdicts.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8FA1FC15-1045-8784-202C-7E1C76783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0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6DC2C-016C-CA48-1251-7BE14C0A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32CA4C-AC23-4753-E966-4E3E4474B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AFC1C9-79CA-C7B4-09C0-788685674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1E4698-61D1-C678-A534-D346EE97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DF084-415D-1EB8-8694-009D3B50D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66D6-650F-CC0E-4E7F-027FD74E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 &amp;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982728-E889-2B0A-29D9-D607A40E5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150658"/>
              </p:ext>
            </p:extLst>
          </p:nvPr>
        </p:nvGraphicFramePr>
        <p:xfrm>
          <a:off x="10438" y="1576191"/>
          <a:ext cx="12182217" cy="5280535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649069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906735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1990990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529742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142111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1963570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7881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4923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R. Kalakoti, S. Nõmm, and H. Bahsi, “</a:t>
                      </a:r>
                      <a:r>
                        <a:rPr lang="en-US" sz="1300" b="1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In-depth feature selection for the statistical machine learning-based botnet detection in IoT </a:t>
                      </a:r>
                      <a:r>
                        <a:rPr lang="en-US" sz="1300" b="1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networks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,”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IEEE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 Access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vol. 10, pp. 94518–94535, 2022,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10.1109/ACCESS.2022.3204001.</a:t>
                      </a:r>
                      <a:endParaRPr lang="en-US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IoT botnet detection can involve many features, increasing computational cost and potentially reducing detection efficiency.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identifies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optimal feature subsets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for binary and multiclass botnet detection across IoT datasets.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compares filter/wrapper feature-selection methods with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Decision Tree, Random Forest, Extra Trees and k-NN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classifiers.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study achieved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over 99% detection performance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using a substantially reduced number of features.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focuses on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feature selection and classification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without threat contextualization, LLM reasoning, or evidence-based verification.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8D894497-4E21-CE0D-CE61-02436D0A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0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F3AFF-5DA4-9932-54C3-9E6463DB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9E25C1-CBC7-A5C0-A276-A5D5A8336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79C40-0EC0-3E12-1668-7ADF6EDAA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931758-19C4-14A2-3407-774DFB4B4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45C8F-A6AB-07C1-AC83-DC35152CB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4B001-5FC8-D863-FA12-EE5D635E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 &amp;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629AD7-068E-9353-59A1-BB538801F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66351"/>
              </p:ext>
            </p:extLst>
          </p:nvPr>
        </p:nvGraphicFramePr>
        <p:xfrm>
          <a:off x="0" y="1576191"/>
          <a:ext cx="12196236" cy="5280685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650967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908929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1993281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532653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144577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1965829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5581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7225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M. Arul, R. Kishore Kumar, S. Santhosh, M. Boomika, J. Bhavana Shree, and K. Shree Durga, “</a:t>
                      </a:r>
                      <a:r>
                        <a:rPr lang="en-US" sz="1300" b="1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A multi-model deep learning approach for advanced cybersecurity threat detection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2nd Int. Conf. Multi-Agent Systems for Collaborative Intelligence (ICMSCI)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2026, pp. 386–391,doi: 10.1109/ICMSCI67830.2026.11469498.</a:t>
                      </a:r>
                      <a:endParaRPr lang="en-US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Traditional IDS approaches struggle with complex, multi-stage and previously unseen attacks due to limited spatial and temporal understanding.</a:t>
                      </a:r>
                      <a:endParaRPr lang="en-US"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proposes a hybrid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Autoencoder + Capsule Network + Transformer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architecture for advanced threat detection.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The Autoencoder detects anomalies, </a:t>
                      </a:r>
                      <a:r>
                        <a:rPr lang="en-US" sz="1500" b="0" i="0" u="none" strike="noStrike" cap="none" spc="0" noProof="0" err="1">
                          <a:solidFill>
                            <a:schemeClr val="tx1"/>
                          </a:solidFill>
                        </a:rPr>
                        <a:t>CapsNet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 captures hierarchical patterns, and the Transformer learns temporal dependencies before adaptive fusion.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The framework achieved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above 98% accuracy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, with reported zero-day detection performance of approximately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92–96%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It improves detection but lacks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</a:rPr>
                        <a:t>external threat context, LLM-based reasoning, and a dedicated mechanism for verifying generated security decisions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D8F75FA3-2DBB-0331-CD44-D1D272FF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2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877A7-C4B7-A45D-124C-34C3A800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21BC86-E959-321E-684F-10C8F5FA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BB37D-6C8F-86D5-68DE-817BD0EDB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7CF952-9440-DA9E-1F9E-70F1E8E38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711D01-CD2C-4AC0-7B1A-9F5A3ADE9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65715-613A-7C64-CD7C-4FBBD145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 &amp;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D2761B-3EE5-1A64-1712-2211F02705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033763"/>
              </p:ext>
            </p:extLst>
          </p:nvPr>
        </p:nvGraphicFramePr>
        <p:xfrm>
          <a:off x="10438" y="1576191"/>
          <a:ext cx="12210240" cy="5280276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97210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566773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1995570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2535561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147039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1968087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6833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Paper Details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b="1"/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5969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S. Subash Chandra Bose, V. Shanmugapriya, N. Mahadev, M. Pyingkodi, R. Natarajan, and N.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Thangarasu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“</a:t>
                      </a:r>
                      <a:r>
                        <a:rPr lang="en-US" sz="1300" b="1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AI-driven cybersecurity defense for military networks,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2025 IEEE Int. Conf. Women in Innovation, Technology &amp; Entrepreneurship (ICWITE)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2025, pp. 1–6, doi:10.1109/ICWITE64848.2025.11307120. </a:t>
                      </a: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</a:rPr>
                        <a:t>Military networks face adaptive and sophisticated cyberattacks requiring autonomous detection and rapid defensive responses.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proposes an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Adaptive Autonomous Cyber Defense System (AACDS)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combining detection, zero-day identification and automated response.</a:t>
                      </a:r>
                      <a:endParaRPr lang="en-US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It integrates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Isolation Forest, few-shot learning, DQN reinforcement learning, federated learning and XAI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  <a:endParaRPr lang="en-US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AACDS achieved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99.40% accuracy, 97.70% precision, 97.63% recall and 96.20% F1-score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with reduced response time.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Although it includes XAI and autonomous response, it lacks </a:t>
                      </a:r>
                      <a:r>
                        <a:rPr lang="en-US" sz="15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RAG-based threat contextualization and evidence-grounded self-verification</a:t>
                      </a:r>
                      <a:r>
                        <a:rPr lang="en-US" sz="15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.</a:t>
                      </a:r>
                      <a:endParaRPr lang="en-US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500" b="0" i="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80357" marR="114796" marT="22959" marB="1721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3527BD05-32B8-68DC-295A-08C3DF6FF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6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6DF9F-985C-45DA-3075-64FBB6BB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89392F-E611-061E-6F8D-91C26C11D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FA9DF-BCE9-E134-1392-E1EAB0A7E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235988-9FE9-CEDD-64FD-961752668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06587F-4A4F-1BE7-C106-B1AD762E0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58448-606D-D976-D689-B4F23951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F86F27-F3EC-D9A6-2C4F-004A2EF91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056750"/>
              </p:ext>
            </p:extLst>
          </p:nvPr>
        </p:nvGraphicFramePr>
        <p:xfrm>
          <a:off x="30891" y="1565189"/>
          <a:ext cx="12125168" cy="527723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0924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2169063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1818144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1509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12470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03058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853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4233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J. Roy and S. K. Singh, “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AgentSOC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A multi-layer agentic AI framework for security operations automation,”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2026 IEEE 5th Int. Conf. AI 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inCybersecurity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 (ICAIC)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Houston, TX, USA, 2026, pp. 1–7,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10.1109/ICAIC67076.2026.11395783.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SOCs face massive alert volumes, difficulty correlating multi-stage attacks, and difficulty selecting safe responses; existing SIEM/SOAR/LLM systems still depend heavily on human analysts.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Proposes an agentic AI framework that automates alert enrichment, attack-intent reasoning, feasibility checking, and risk-aware response selection.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Uses a Narrative Counterfactual Engine for attack hypotheses, Structural Simulation Engine for validating attack paths against network topology, and Risk Scoring &amp; Evaluation Module for selecting safe responses.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LANL-based POC achieved 506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ms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runtime, reduced manual triage, filtered infeasible LLM outputs, and improved reasoning about attacker intent.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Evaluation was limited to a fixed LANL dataset and a 50-node simulated enterprise; responses were only tested in dry-run mode, with rule-based ATT&amp;CK mapping and simplified business-impact scoring.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65BA8D91-0C4C-1017-2194-E63451C2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2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0482D-DF59-6811-7CD8-503E7CEA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7BBC921-19A7-A381-871A-9AD9D83E5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036406-CDBD-9087-E190-12B1BEC5D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C8CA46-34C2-D6F3-74EF-26D302D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97837D-6222-79BE-DB14-1DD85C66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1C8AA-A7D3-2B8A-08B1-C539A74A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8472ED-7D24-CE1E-C89A-05E4C3808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383212"/>
              </p:ext>
            </p:extLst>
          </p:nvPr>
        </p:nvGraphicFramePr>
        <p:xfrm>
          <a:off x="30891" y="1596081"/>
          <a:ext cx="12138053" cy="525159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2839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87980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03465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3550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15032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05187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9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3240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T.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Zebin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S. Rezvy, and Y. Luo, “An explainable AI-based intrusion detection system for DNS over HTTPS (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DoH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) attacks,”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IEEE Trans. Inf. 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ForensicsSecurity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vol. 17, pp. 2339–2349, 2022,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10.1109/TIFS.2022.3183390.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DNS over HTTPS encrypts DNS traffic, making it difficult for network administrators to detect malicious DNS tunneling and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-based attacks.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Develops an explainable intrusion detection system capable of detecting and classifying malicious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traffic while showing why the model made its decision.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Uses the CIRA-CIC-DoHBrw-2020 dataset, a balanced stacked Random Forest classifier, and SHAP to identify the contribution of individual features to each prediction.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Achieved 99.91% precision, 99.92% recall and 99.91% F1-score, while distinguishing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traffic from normal HTTPS with about 99.9% accuracy; SHAP provided feature-level explanations.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system mainly distinguishes browser-based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traffic and was evaluated on one public dataset; future work needs to handle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generated by other applications, DGA/botnet-based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DoH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and deep neural network models.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E95B3E41-2277-F54E-C8DA-111CD25BD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81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DF158-0DDF-972B-B2EF-E83B1D4C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D36CA37-8CED-529E-3700-94D3679EF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42F498-C815-E140-89BF-581FA5A0A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4AB833-A4A1-4811-09F4-F64F2128F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26E437-4B3E-027F-3588-6EC90A060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8B1EC-1623-3B2C-C973-F1BC4C68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8AD5ABC-2774-DEC6-045C-F03EA8B36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509597"/>
              </p:ext>
            </p:extLst>
          </p:nvPr>
        </p:nvGraphicFramePr>
        <p:xfrm>
          <a:off x="20594" y="1554891"/>
          <a:ext cx="12163800" cy="529025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6663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1560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08350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7631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0155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09441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1003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2869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K. Ahi and S. Valizadeh, “Large language models (LLMs) and generative AI in cybersecurity and privacy: A survey of dual-use risks, AI-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generatedmalware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explainability, and defensive strategies,” 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arXiv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 preprint arXiv:2607.06963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2026.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LLMs create a dual-use problem in cybersecurity: they can improve threat detection and defense but can simultaneously be abused to generate malware, discover vulnerabilities, and automate attacks.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Provides a broad survey of LLM/GenAI applications, risks, explainability, zero-day detection,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DevSecOps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federated learning, synthetic content, and defensive strategies.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Reviews 70+ academic papers, industry reports, technical documents, and real-world case studies covering platforms such as Microsoft Defender, Google Play Protect, AWS, GitHub and others.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survey identifies both defensive and offensive capabilities of GenAI and recommends watermarking, adversarial defense, explainability, responsible deployment, and cross-industry collaboration.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Since this is a survey rather than a new detection system, it does not provide a single experimentally validated cybersecurity architecture.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ECCA232E-E818-234A-9362-8E5ECB346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19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22B53-A811-5F3F-6587-60BACFD7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9E9FFA-7319-72E7-4B05-0E17877B0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B3A4B5-8801-FB12-0A5C-703ECAABC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370F40-65CA-0A3D-9B38-6525440DF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2633B3-D1BB-CA6D-B3D4-9E2F889F1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B42-65D9-C7B4-F17E-5D8C66B1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27B4CC-4D03-01C9-B7DB-AA816E97D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019732"/>
              </p:ext>
            </p:extLst>
          </p:nvPr>
        </p:nvGraphicFramePr>
        <p:xfrm>
          <a:off x="0" y="1554891"/>
          <a:ext cx="12176665" cy="531598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8574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3350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10791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9670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2714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1566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10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3077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M. Niveditha, M. D. Swetha, M. Siva Rama Krishna, S. Rashmi, B. Pallavi, and M. Lakshmi Neelima, “Smart cyber threat intelligence system 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forautonomous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 threat aggregation and reporting,”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2026 Int. Conf. AI-Driven Innovations &amp; Applications (IC-AIDA)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2026,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10.1109/IC-AIDA68291.2026.11564311.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Traditional CTI platforms depend on signature-based feeds and delayed indicator distribution, making it difficult to process the huge volume of rapidly changing and unstructured threat information.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Develops an AI-powered CTI system that automatically aggregates threats, correlates vulnerabilities, prioritizes severity, recommends mitigation, and generates structured intelligence reports.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Combines real-time OSINT/API data with a multi-agent architecture using specialized agents for threat analysis, CVE research, incident response and report generation, using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CrewAI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LangChain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and Llama 3.1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system produced timely threat assessments, prioritized recommendations and professional Markdown/PDF CTI reports while reducing manual analysis and improving early threat visibility.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system still needs stronger adaptive learning and continuous adaptation to evolving attacks.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26D82AB1-4520-4415-E423-49A0AB9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53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29F12-486B-9E61-0C46-6547E589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99FA8B9-B55A-621E-D7CC-0085D2B7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D5777B-1A3D-C78E-03B3-9CCCEF7F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8163C5-25F8-F045-184D-E1231BE7D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9BF38C-DC9A-C132-0FBA-F8CB6C03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168E0-0026-6C25-BCCE-770DBFFD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6E1100-C941-C4B9-ECB8-4196493EE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023996"/>
              </p:ext>
            </p:extLst>
          </p:nvPr>
        </p:nvGraphicFramePr>
        <p:xfrm>
          <a:off x="30891" y="1585783"/>
          <a:ext cx="12163801" cy="580957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6664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1561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08350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7630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0155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09441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993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28110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M. Yadav, “The role of large language models in cybersecurity: Strengths, vulnerabilities, and mitigation strategies,”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3rd Int. 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Conf.Sustainable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 Computing and Smart Systems (ICSCSS)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2025, pp. 1983–1990,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10.1109/ICSCSS64956.2025.11500704.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Conventional rule/signature-based cybersecurity struggles with evolving threats such as zero-days and polymorphic malware, while LLM-based systems themselves introduce risks such as prompt injection, model inversion, data leakage and bias.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Examines the benefits, vulnerabilities and mitigation strategies associated with using LLMs for threat detection, malware/phishing detection, incident response and SOC automation.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Analyzes approaches including transfer learning, fine-tuning, adversarial training, XAI, privacy protection and hybrid AI architectures to improve robustness and security.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study concludes that LLMs can improve automated detection and response, but secure deployment requires stronger adversarial robustness, privacy protection, interpretability and hybrid AI approaches.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There is a need for benchmarking across diverse environments, integration with live SOC infrastructure, adversarial stress testing, cybersecurity-specific LLMs, reinforcement-learning-based response and better LLM explainability.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FE509EBB-5DC7-90D5-245C-F37A7AB6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20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FD57E-4443-5A2C-AE37-E3926B8D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BCB176-88F8-252C-A7AE-7CFB6A006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E54296-B5DC-E46B-D6D3-B1B3625AD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4B9A8A-AB3C-7B8D-4F1C-609CCF6BA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873DBE-024B-969C-D7BC-F682D867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845A3-0758-CFA7-323A-5EEF58FD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43" y="290992"/>
            <a:ext cx="10902477" cy="9356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Survey &amp; Summary</a:t>
            </a:r>
            <a:endParaRPr lang="en-US" sz="4000">
              <a:solidFill>
                <a:srgbClr val="000000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18A7B8-D820-E6EE-F7D4-F8D832FDE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52747"/>
              </p:ext>
            </p:extLst>
          </p:nvPr>
        </p:nvGraphicFramePr>
        <p:xfrm>
          <a:off x="30891" y="1554891"/>
          <a:ext cx="12176676" cy="530850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808576">
                  <a:extLst>
                    <a:ext uri="{9D8B030D-6E8A-4147-A177-3AD203B41FA5}">
                      <a16:colId xmlns:a16="http://schemas.microsoft.com/office/drawing/2014/main" val="4060731028"/>
                    </a:ext>
                  </a:extLst>
                </a:gridCol>
                <a:gridCol w="1693351">
                  <a:extLst>
                    <a:ext uri="{9D8B030D-6E8A-4147-A177-3AD203B41FA5}">
                      <a16:colId xmlns:a16="http://schemas.microsoft.com/office/drawing/2014/main" val="3793414166"/>
                    </a:ext>
                  </a:extLst>
                </a:gridCol>
                <a:gridCol w="2310794">
                  <a:extLst>
                    <a:ext uri="{9D8B030D-6E8A-4147-A177-3AD203B41FA5}">
                      <a16:colId xmlns:a16="http://schemas.microsoft.com/office/drawing/2014/main" val="1431493211"/>
                    </a:ext>
                  </a:extLst>
                </a:gridCol>
                <a:gridCol w="1929671">
                  <a:extLst>
                    <a:ext uri="{9D8B030D-6E8A-4147-A177-3AD203B41FA5}">
                      <a16:colId xmlns:a16="http://schemas.microsoft.com/office/drawing/2014/main" val="920403244"/>
                    </a:ext>
                  </a:extLst>
                </a:gridCol>
                <a:gridCol w="2422716">
                  <a:extLst>
                    <a:ext uri="{9D8B030D-6E8A-4147-A177-3AD203B41FA5}">
                      <a16:colId xmlns:a16="http://schemas.microsoft.com/office/drawing/2014/main" val="1179094452"/>
                    </a:ext>
                  </a:extLst>
                </a:gridCol>
                <a:gridCol w="2011568">
                  <a:extLst>
                    <a:ext uri="{9D8B030D-6E8A-4147-A177-3AD203B41FA5}">
                      <a16:colId xmlns:a16="http://schemas.microsoft.com/office/drawing/2014/main" val="2195136363"/>
                    </a:ext>
                  </a:extLst>
                </a:gridCol>
              </a:tblGrid>
              <a:tr h="98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What is it doing?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How is it doing it?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418340"/>
                  </a:ext>
                </a:extLst>
              </a:tr>
              <a:tr h="43226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Y. Ma, G. Zeng, P. Zhang, Y. Huang, F. Zhang, R. Lin, and H. Qian, “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TrapLLM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An LLM-powered interactive log-based honeypot for real-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worldnetwork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 attacks,” in 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Proc. 2025 IEEE 24th Int. Conf. Trust, Security and Privacy in Computing and Communications (</a:t>
                      </a:r>
                      <a:r>
                        <a:rPr lang="en-US" sz="1300" b="0" i="1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TrustCom</a:t>
                      </a:r>
                      <a:r>
                        <a:rPr lang="en-US" sz="1300" b="0" i="1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)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, 2025, pp. 1578–1585, </a:t>
                      </a:r>
                      <a:r>
                        <a:rPr lang="en-US" sz="1300" b="0" i="0" u="none" strike="noStrike" cap="none" spc="0" noProof="0" err="1">
                          <a:solidFill>
                            <a:srgbClr val="000000"/>
                          </a:solidFill>
                          <a:latin typeface="Aptos"/>
                        </a:rPr>
                        <a:t>doi</a:t>
                      </a:r>
                      <a:r>
                        <a:rPr lang="en-US" sz="1300" b="0" i="0" u="none" strike="noStrike" cap="none" spc="0" noProof="0">
                          <a:solidFill>
                            <a:srgbClr val="000000"/>
                          </a:solidFill>
                          <a:latin typeface="Aptos"/>
                        </a:rPr>
                        <a:t>: 10.1109/TrustCom66490.2025.00183. </a:t>
                      </a:r>
                      <a:endParaRPr lang="en-US" b="0"/>
                    </a:p>
                  </a:txBody>
                  <a:tcPr marL="75263" marR="107519" marT="21504" marB="16127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Traditional honeypots rely heavily on static responses and struggle to capture sophisticated, evolving attacks; heterogeneous honeypot logs also make attacker-intent analysis difficult.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Proposes </a:t>
                      </a:r>
                      <a:r>
                        <a:rPr lang="en-US" sz="16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TrapLLM</a:t>
                      </a: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an adaptive LLM-powered honeypot that analyzes attacker behavior, reconstructs attack chains, recognizes intent and dynamically generates deceptive responses.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Uses RAG, LLM-based intent recognition, semantic association, multi-turn context tracking, adaptive response generation and dynamic traffic shaping to modify deception according to attacker behavior.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In a 25-day real-world deployment, it captured 1.39 million logs and 4,521 high-risk malicious requests, achieving a 40.5% increase in diverted traffic, 89.1% increase in detected high-risk requests, 95.2% accuracy and 98.8% recall. </a:t>
                      </a:r>
                      <a:endParaRPr 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Centralized LLM inference may not scale to hundreds of honeypot nodes; the system remains vulnerable to prompt injection and attacker probing, requires labor-intensive template/model maintenance, and lacks an efficient honeypot-prioritization mechanism.</a:t>
                      </a:r>
                    </a:p>
                  </a:txBody>
                  <a:tcPr marL="75263" marR="107519" marT="21504" marB="1612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58502"/>
                  </a:ext>
                </a:extLst>
              </a:tr>
            </a:tbl>
          </a:graphicData>
        </a:graphic>
      </p:graphicFrame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A9188F38-75A3-44BE-705A-CCF64A563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0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76512-66EB-B7BD-F3D1-2A9F101B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Problem statement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29C6D79-B388-2228-0A5B-79D27DE6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Existing security systems can generate large volumes of alerts and may struggle to detect previously unseen attack behaviors. Although AI-assisted SOC systems improve investigation efficiency, their generated explanations and verdicts may contain unsupported or inconsistent reasoning.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Therefore, there is a need for a behavior-based framework that can detect unseen attack behaviors and produce evidence-grounded, explainable and verifiable security decisions.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203D70BB-2D55-8A44-D8BB-6F1BE569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56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EF14D-A5C4-0FD5-1E72-D291A03B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Introducing ZeroShield AI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F1C3F-73CC-8D4B-F33A-2E309B79C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An evidence-grounded framework for detecting previously unseen attack behaviors and producing verifiable security decisions.</a:t>
            </a:r>
            <a:endParaRPr lang="en-US" sz="2000"/>
          </a:p>
        </p:txBody>
      </p:sp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D9F0C223-1F65-0A09-F76A-E93530EE4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ED4034-1F94-D4D6-AA3E-38D84A95B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59" y="609378"/>
            <a:ext cx="104013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74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51797ADB-6835-D4C8-150D-9AD672FA7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E2E61F-B71E-8997-C640-C3E59BFC8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93" y="0"/>
            <a:ext cx="6551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05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175D-CFC0-957E-C393-4742F7D2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Time Plan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9C86-A2E6-97D9-2725-F1F962A43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August 2026 : Dataset &amp; Detection Setup</a:t>
            </a:r>
            <a:endParaRPr lang="en-US"/>
          </a:p>
          <a:p>
            <a:r>
              <a:rPr lang="en-US"/>
              <a:t>Literature survey completion, dataset preparation, preprocessing, feature analysis, attack-label analysis, train/test strategy, and implementation of the </a:t>
            </a:r>
            <a:r>
              <a:rPr lang="en-US" b="1"/>
              <a:t>behavior-based anomaly detection model</a:t>
            </a:r>
            <a:r>
              <a:rPr lang="en-US"/>
              <a:t>.</a:t>
            </a:r>
          </a:p>
          <a:p>
            <a:r>
              <a:rPr lang="en-US" b="1"/>
              <a:t>September 2026: Unseen Attack Detection &amp; XAI</a:t>
            </a:r>
            <a:endParaRPr lang="en-US"/>
          </a:p>
          <a:p>
            <a:r>
              <a:rPr lang="en-US"/>
              <a:t>Hold out selected attack categories to simulate zero-day attacks, train and evaluate anomaly models, optimize detection, and implement </a:t>
            </a:r>
            <a:r>
              <a:rPr lang="en-US" b="1"/>
              <a:t>SHAP/LIME-based behavioral evidence extraction</a:t>
            </a:r>
            <a:r>
              <a:rPr lang="en-US"/>
              <a:t>.</a:t>
            </a:r>
          </a:p>
          <a:p>
            <a:r>
              <a:rPr lang="en-US" b="1"/>
              <a:t>October 2026 :Threat Context &amp; LLM Reasoning</a:t>
            </a:r>
            <a:endParaRPr lang="en-US"/>
          </a:p>
          <a:p>
            <a:r>
              <a:rPr lang="en-US"/>
              <a:t>Build the </a:t>
            </a:r>
            <a:r>
              <a:rPr lang="en-US" b="1"/>
              <a:t>MITRE ATT&amp;CK + Threat Intelligence knowledge base</a:t>
            </a:r>
            <a:r>
              <a:rPr lang="en-US"/>
              <a:t>, implement vector database/RAG retrieval, integrate the LLM reasoning layer, and generate security verdicts, confidence scores and attack mappings.</a:t>
            </a:r>
          </a:p>
          <a:p>
            <a:endParaRPr lang="en-US"/>
          </a:p>
        </p:txBody>
      </p:sp>
      <p:pic>
        <p:nvPicPr>
          <p:cNvPr id="5" name="Picture 4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92F2CC0A-B51F-2CB6-26FE-EEE97798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55" y="-3056"/>
            <a:ext cx="2255871" cy="5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96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F3E3-DC65-A695-9A71-33ADF4B7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1E2761"/>
                </a:solidFill>
                <a:latin typeface="Cambria"/>
                <a:ea typeface="Cambria"/>
              </a:rPr>
              <a:t>Step 1)</a:t>
            </a:r>
            <a:br>
              <a:rPr lang="en-US" sz="3200" b="1">
                <a:solidFill>
                  <a:srgbClr val="1E2761"/>
                </a:solidFill>
                <a:latin typeface="Cambria"/>
                <a:ea typeface="Cambria"/>
              </a:rPr>
            </a:b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</a:rPr>
              <a:t>Dataset: CIC-IoT-2023</a:t>
            </a:r>
            <a:endParaRPr lang="en-US"/>
          </a:p>
          <a:p>
            <a:r>
              <a:rPr lang="en-US" sz="1600">
                <a:solidFill>
                  <a:srgbClr val="3A3F5C"/>
                </a:solidFill>
                <a:latin typeface="Calibri"/>
                <a:ea typeface="Calibri"/>
                <a:cs typeface="Calibri"/>
              </a:rPr>
              <a:t>Canadian Institute for Cybersecurity — 105 real IoT devices, 33 attacks across 7 categories</a:t>
            </a:r>
            <a:endParaRPr lang="en-US" sz="4800"/>
          </a:p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28BED65-663C-51BA-2BF1-70CDE5AF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>
                <a:ea typeface="+mn-lt"/>
                <a:cs typeface="+mn-lt"/>
              </a:rPr>
              <a:t>What is this dataset about ?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169 CSV files containing </a:t>
            </a:r>
            <a:r>
              <a:rPr lang="en-US" b="1">
                <a:ea typeface="+mn-lt"/>
                <a:cs typeface="+mn-lt"/>
              </a:rPr>
              <a:t>44M+ network-flow records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47 original features representing traffic, timing, TCP flags, packet statistics and protocol information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//data preprocessing </a:t>
            </a:r>
          </a:p>
          <a:p>
            <a:r>
              <a:rPr lang="en-US">
                <a:ea typeface="+mn-lt"/>
                <a:cs typeface="+mn-lt"/>
              </a:rPr>
              <a:t>Binary labeling introduced: </a:t>
            </a:r>
            <a:endParaRPr lang="en-US"/>
          </a:p>
          <a:p>
            <a:r>
              <a:rPr lang="en-US">
                <a:latin typeface="Consolas"/>
              </a:rPr>
              <a:t>0 → Benign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latin typeface="Consolas"/>
              </a:rPr>
              <a:t>1 → Attack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Removed timestamps.</a:t>
            </a:r>
          </a:p>
          <a:p>
            <a:r>
              <a:rPr lang="en-US">
                <a:ea typeface="+mn-lt"/>
                <a:cs typeface="+mn-lt"/>
              </a:rPr>
              <a:t>33 attack types across 7 attack categories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Memory-Safe Data Processing</a:t>
            </a:r>
          </a:p>
          <a:p>
            <a:r>
              <a:rPr lang="en-US" b="1"/>
              <a:t>Redundancy Removal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Spearman correlation: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|ρ| ≥ 0.90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5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C9AF-BB7D-2180-2C48-8235063B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2)Feature Engineering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D47C0-32E7-9A23-3EA0-6FCEC47AE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713" y="2169780"/>
            <a:ext cx="11142983" cy="283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79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105E-2F08-68FF-B69B-D8FF833B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2)split Zero-Day Attack Experimental Setup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54B6-1AD7-1857-A4F7-DDAA77222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ea typeface="+mn-lt"/>
                <a:cs typeface="+mn-lt"/>
              </a:rPr>
              <a:t>Instead of randomly hiding individual samples, we completely excluded two behaviorally different attack groups from model training: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Held-out categories: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Mirai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Mirai-greeth_flood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Mirai-udpplain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Mirai-greip_flood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Web-Based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SQL Injection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Command Injection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Backdoor Malware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Uploading Attack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XSS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Browser Hijacking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These attacks are </a:t>
            </a:r>
            <a:r>
              <a:rPr lang="en-US" b="1">
                <a:ea typeface="+mn-lt"/>
                <a:cs typeface="+mn-lt"/>
              </a:rPr>
              <a:t>never presented to the anomaly detector during training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19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79B8-9D06-6EC3-08D2-A2A9E6A7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Two Models Evaluated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C21A-0C79-24C5-9D4E-22464787A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4391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  Autoencoder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F8E90-C074-EED5-ECEF-DB302C3F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335" y="1239669"/>
            <a:ext cx="4439024" cy="475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84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4084-B8E2-B107-08B5-B0168CFE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Partial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AAA181-DFEF-D6B5-0C95-B5596523F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918" y="1347760"/>
            <a:ext cx="7019215" cy="3550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3034A-4E2C-D6B4-DE86-A88BB80CD357}"/>
              </a:ext>
            </a:extLst>
          </p:cNvPr>
          <p:cNvSpPr txBox="1"/>
          <p:nvPr/>
        </p:nvSpPr>
        <p:spPr>
          <a:xfrm>
            <a:off x="7918174" y="1374913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Zero-Day Evaluation</a:t>
            </a:r>
          </a:p>
          <a:p>
            <a:r>
              <a:rPr lang="en-US" b="1"/>
              <a:t>Total zero-day samples:</a:t>
            </a:r>
            <a:r>
              <a:rPr lang="en-US"/>
              <a:t> 2,658,953</a:t>
            </a:r>
          </a:p>
          <a:p>
            <a:pPr>
              <a:buFont typeface=""/>
              <a:buChar char="•"/>
            </a:pPr>
            <a:r>
              <a:rPr lang="en-US"/>
              <a:t>Detected: </a:t>
            </a:r>
            <a:r>
              <a:rPr lang="en-US" b="1"/>
              <a:t>2,157,598</a:t>
            </a:r>
            <a:r>
              <a:rPr lang="en-US"/>
              <a:t> </a:t>
            </a:r>
          </a:p>
          <a:p>
            <a:pPr>
              <a:buFont typeface=""/>
              <a:buChar char="•"/>
            </a:pPr>
            <a:r>
              <a:rPr lang="en-US"/>
              <a:t>Missed: </a:t>
            </a:r>
            <a:r>
              <a:rPr lang="en-US" b="1"/>
              <a:t>501,355</a:t>
            </a:r>
            <a:r>
              <a:rPr lang="en-US"/>
              <a:t> </a:t>
            </a:r>
          </a:p>
          <a:p>
            <a:pPr>
              <a:buFont typeface=""/>
              <a:buChar char="•"/>
            </a:pPr>
            <a:r>
              <a:rPr lang="en-US"/>
              <a:t>Detection rate: </a:t>
            </a:r>
            <a:r>
              <a:rPr lang="en-US" b="1"/>
              <a:t>81.14%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4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78DC65-B9C3-FE24-5FE4-F1269587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4"/>
            <a:ext cx="12192000" cy="681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12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3011-B25C-D857-3BBB-76729412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Isolation Forest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28363-478A-6C29-F7FB-B5FF79187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5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B625-379E-6DE6-A063-21C3B15A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007B-7E0D-EB30-90FD-8AB29DB6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[1] R. </a:t>
            </a:r>
            <a:r>
              <a:rPr lang="en-US" sz="1300" err="1">
                <a:ea typeface="+mn-lt"/>
                <a:cs typeface="+mn-lt"/>
              </a:rPr>
              <a:t>Kalakoti</a:t>
            </a:r>
            <a:r>
              <a:rPr lang="en-US" sz="1300">
                <a:ea typeface="+mn-lt"/>
                <a:cs typeface="+mn-lt"/>
              </a:rPr>
              <a:t>, S. Nõmm, and H. Bahsi, “In-depth feature selection for the statistical machine learning-based botnet detection in IoT networks,” </a:t>
            </a:r>
            <a:r>
              <a:rPr lang="en-US" sz="1300" i="1">
                <a:ea typeface="+mn-lt"/>
                <a:cs typeface="+mn-lt"/>
              </a:rPr>
              <a:t>IEEE Access</a:t>
            </a:r>
            <a:r>
              <a:rPr lang="en-US" sz="1300">
                <a:ea typeface="+mn-lt"/>
                <a:cs typeface="+mn-lt"/>
              </a:rPr>
              <a:t>, vol. 10, pp. 94518–94535, 2022, </a:t>
            </a:r>
            <a:r>
              <a:rPr lang="en-US" sz="1300" err="1">
                <a:ea typeface="+mn-lt"/>
                <a:cs typeface="+mn-lt"/>
              </a:rPr>
              <a:t>doi</a:t>
            </a:r>
            <a:r>
              <a:rPr lang="en-US" sz="1300">
                <a:ea typeface="+mn-lt"/>
                <a:cs typeface="+mn-lt"/>
              </a:rPr>
              <a:t>: 10.1109/ACCESS.2022.3204001.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[2] M. Arul, R. Kishore Kumar, S. Santhosh, M. Boomika, J. Bhavana Shree, and K. Shree Durga, “A multi-model deep learning approach for advanced cybersecurity threat detection,” in </a:t>
            </a:r>
            <a:r>
              <a:rPr lang="en-US" sz="1300" i="1">
                <a:ea typeface="+mn-lt"/>
                <a:cs typeface="+mn-lt"/>
              </a:rPr>
              <a:t>Proc. 2nd Int. Conf. Multi-Agent Systems for Collaborative Intelligence (ICMSCI)</a:t>
            </a:r>
            <a:r>
              <a:rPr lang="en-US" sz="1300">
                <a:ea typeface="+mn-lt"/>
                <a:cs typeface="+mn-lt"/>
              </a:rPr>
              <a:t>, 2026, pp. 386–391, </a:t>
            </a:r>
            <a:r>
              <a:rPr lang="en-US" sz="1300" err="1">
                <a:ea typeface="+mn-lt"/>
                <a:cs typeface="+mn-lt"/>
              </a:rPr>
              <a:t>doi</a:t>
            </a:r>
            <a:r>
              <a:rPr lang="en-US" sz="1300">
                <a:ea typeface="+mn-lt"/>
                <a:cs typeface="+mn-lt"/>
              </a:rPr>
              <a:t>: 10.1109/ICMSCI67830.2026.11469498.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[3] Pooja N. G., Vijayalakshmi A. Lepakshi, Kavitha M., Monika M., and Deeksha, “A review of unsupervised learning techniques for zero-day attack detection,” in </a:t>
            </a:r>
            <a:r>
              <a:rPr lang="en-US" sz="1300" i="1">
                <a:ea typeface="+mn-lt"/>
                <a:cs typeface="+mn-lt"/>
              </a:rPr>
              <a:t>Proc. 3rd Int. Conf. Innovations in Cybersecurity and Data Science (ICICDS)</a:t>
            </a:r>
            <a:r>
              <a:rPr lang="en-US" sz="1300">
                <a:ea typeface="+mn-lt"/>
                <a:cs typeface="+mn-lt"/>
              </a:rPr>
              <a:t>, 2026.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[4] J. Roy and S. K. Singh, “</a:t>
            </a:r>
            <a:r>
              <a:rPr lang="en-US" sz="1300" err="1">
                <a:ea typeface="+mn-lt"/>
                <a:cs typeface="+mn-lt"/>
              </a:rPr>
              <a:t>AgentSOC</a:t>
            </a:r>
            <a:r>
              <a:rPr lang="en-US" sz="1300">
                <a:ea typeface="+mn-lt"/>
                <a:cs typeface="+mn-lt"/>
              </a:rPr>
              <a:t>: A multi-layer agentic AI framework for security operations automation,” in </a:t>
            </a:r>
            <a:r>
              <a:rPr lang="en-US" sz="1300" i="1">
                <a:ea typeface="+mn-lt"/>
                <a:cs typeface="+mn-lt"/>
              </a:rPr>
              <a:t>Proc. 2026 IEEE 5th Int. Conf. AI in Cybersecurity (ICAIC)</a:t>
            </a:r>
            <a:r>
              <a:rPr lang="en-US" sz="1300">
                <a:ea typeface="+mn-lt"/>
                <a:cs typeface="+mn-lt"/>
              </a:rPr>
              <a:t>, Houston, TX, USA, 2026, pp. 1–7, </a:t>
            </a:r>
            <a:r>
              <a:rPr lang="en-US" sz="1300" err="1">
                <a:ea typeface="+mn-lt"/>
                <a:cs typeface="+mn-lt"/>
              </a:rPr>
              <a:t>doi</a:t>
            </a:r>
            <a:r>
              <a:rPr lang="en-US" sz="1300">
                <a:ea typeface="+mn-lt"/>
                <a:cs typeface="+mn-lt"/>
              </a:rPr>
              <a:t>: 10.1109/ICAIC67076.2026.11395783.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[5] S. Subash Chandra Bose, V. Shanmugapriya, N. Mahadev, M. Pyingkodi, R. Natarajan, and N. </a:t>
            </a:r>
            <a:r>
              <a:rPr lang="en-US" sz="1300" err="1">
                <a:ea typeface="+mn-lt"/>
                <a:cs typeface="+mn-lt"/>
              </a:rPr>
              <a:t>Thangarasu</a:t>
            </a:r>
            <a:r>
              <a:rPr lang="en-US" sz="1300">
                <a:ea typeface="+mn-lt"/>
                <a:cs typeface="+mn-lt"/>
              </a:rPr>
              <a:t>, “AI-driven cybersecurity defense for military networks,” in </a:t>
            </a:r>
            <a:r>
              <a:rPr lang="en-US" sz="1300" i="1">
                <a:ea typeface="+mn-lt"/>
                <a:cs typeface="+mn-lt"/>
              </a:rPr>
              <a:t>Proc. 2025 IEEE Int. Conf. Women in Innovation, Technology &amp; Entrepreneurship (ICWITE)</a:t>
            </a:r>
            <a:r>
              <a:rPr lang="en-US" sz="1300">
                <a:ea typeface="+mn-lt"/>
                <a:cs typeface="+mn-lt"/>
              </a:rPr>
              <a:t>, 2025, pp. 1–6, </a:t>
            </a:r>
            <a:r>
              <a:rPr lang="en-US" sz="1300" err="1">
                <a:ea typeface="+mn-lt"/>
                <a:cs typeface="+mn-lt"/>
              </a:rPr>
              <a:t>doi</a:t>
            </a:r>
            <a:r>
              <a:rPr lang="en-US" sz="1300">
                <a:ea typeface="+mn-lt"/>
                <a:cs typeface="+mn-lt"/>
              </a:rPr>
              <a:t>: 10.1109/ICWITE64848.2025.11307120.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[6] T. </a:t>
            </a:r>
            <a:r>
              <a:rPr lang="en-US" sz="1300" err="1">
                <a:ea typeface="+mn-lt"/>
                <a:cs typeface="+mn-lt"/>
              </a:rPr>
              <a:t>Zebin</a:t>
            </a:r>
            <a:r>
              <a:rPr lang="en-US" sz="1300">
                <a:ea typeface="+mn-lt"/>
                <a:cs typeface="+mn-lt"/>
              </a:rPr>
              <a:t>, S. Rezvy, and Y. Luo, “An explainable AI-based intrusion detection system for DNS over HTTPS (</a:t>
            </a:r>
            <a:r>
              <a:rPr lang="en-US" sz="1300" err="1">
                <a:ea typeface="+mn-lt"/>
                <a:cs typeface="+mn-lt"/>
              </a:rPr>
              <a:t>DoH</a:t>
            </a:r>
            <a:r>
              <a:rPr lang="en-US" sz="1300">
                <a:ea typeface="+mn-lt"/>
                <a:cs typeface="+mn-lt"/>
              </a:rPr>
              <a:t>) attacks,” </a:t>
            </a:r>
            <a:r>
              <a:rPr lang="en-US" sz="1300" i="1">
                <a:ea typeface="+mn-lt"/>
                <a:cs typeface="+mn-lt"/>
              </a:rPr>
              <a:t>IEEE Trans. Inf. Forensics Security</a:t>
            </a:r>
            <a:r>
              <a:rPr lang="en-US" sz="1300">
                <a:ea typeface="+mn-lt"/>
                <a:cs typeface="+mn-lt"/>
              </a:rPr>
              <a:t>, vol. 17, pp. 2339–2349, 2022, </a:t>
            </a:r>
            <a:r>
              <a:rPr lang="en-US" sz="1300" err="1">
                <a:ea typeface="+mn-lt"/>
                <a:cs typeface="+mn-lt"/>
              </a:rPr>
              <a:t>doi</a:t>
            </a:r>
            <a:r>
              <a:rPr lang="en-US" sz="1300">
                <a:ea typeface="+mn-lt"/>
                <a:cs typeface="+mn-lt"/>
              </a:rPr>
              <a:t>: 10.1109/TIFS.2022.3183390. </a:t>
            </a:r>
            <a:endParaRPr lang="en-US" sz="1300"/>
          </a:p>
          <a:p>
            <a:pPr marL="0" indent="0">
              <a:buNone/>
            </a:pPr>
            <a:r>
              <a:rPr lang="en-US" sz="1300"/>
              <a:t>[7] M. Lisha, V. Agarwal, S. </a:t>
            </a:r>
            <a:r>
              <a:rPr lang="en-US" sz="1300" err="1"/>
              <a:t>Kamthania</a:t>
            </a:r>
            <a:r>
              <a:rPr lang="en-US" sz="1300"/>
              <a:t>, P. </a:t>
            </a:r>
            <a:r>
              <a:rPr lang="en-US" sz="1300" err="1"/>
              <a:t>Vutkur</a:t>
            </a:r>
            <a:r>
              <a:rPr lang="en-US" sz="1300"/>
              <a:t>, and M. S. Chari, “Benchmarking LLM for zero-day vulnerabilities,” in </a:t>
            </a:r>
            <a:r>
              <a:rPr lang="en-US" sz="1300" i="1"/>
              <a:t>Proc. 2024 IEEE Int. Conf. Electronics, Computing and Communication Technologies (CONECCT)</a:t>
            </a:r>
            <a:r>
              <a:rPr lang="en-US" sz="1300"/>
              <a:t>, Bengaluru, India, 2024, pp. 1–6, </a:t>
            </a:r>
            <a:r>
              <a:rPr lang="en-US" sz="1300" err="1"/>
              <a:t>doi</a:t>
            </a:r>
            <a:r>
              <a:rPr lang="en-US" sz="1300"/>
              <a:t>: 10.1109/CONECCT62155.2024.10677338. </a:t>
            </a:r>
          </a:p>
          <a:p>
            <a:pPr marL="0" indent="0">
              <a:buNone/>
            </a:pPr>
            <a:r>
              <a:rPr lang="en-US" sz="1300"/>
              <a:t>[8] I. El Didi, F. Trad, and A. Chehab, “Enhancing network security through deep learning: Mitigating feature engineering and zero-day attacks,” in </a:t>
            </a:r>
            <a:r>
              <a:rPr lang="en-US" sz="1300" i="1"/>
              <a:t>Proc. 4th Int. Conf. Intelligent Cybersecurity (ICSC)</a:t>
            </a:r>
            <a:r>
              <a:rPr lang="en-US" sz="1300"/>
              <a:t>, Valencia, Spain, 2024, pp. 127–131, </a:t>
            </a:r>
            <a:r>
              <a:rPr lang="en-US" sz="1300" err="1"/>
              <a:t>doi</a:t>
            </a:r>
            <a:r>
              <a:rPr lang="en-US" sz="1300"/>
              <a:t>: 10.1109/ICSC63108.2024.10895964. 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009716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7EF8-FAAF-0760-3F11-43BBF4B8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24D7-3112-0177-ED0F-E5636AC7C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300"/>
              <a:t>[9] C. K. Sruthi, A. Ravikumar, and H. Sriraman, “Enhancing zero-day attack detection with XAI-driven ML models and SMOTE analysis,” in </a:t>
            </a:r>
            <a:r>
              <a:rPr lang="en-US" sz="1300" i="1"/>
              <a:t>Proc. 3rd Int. Conf. Artificial Intelligence for Internet of Things (</a:t>
            </a:r>
            <a:r>
              <a:rPr lang="en-US" sz="1300" i="1" err="1"/>
              <a:t>AIIoT</a:t>
            </a:r>
            <a:r>
              <a:rPr lang="en-US" sz="1300" i="1"/>
              <a:t>)</a:t>
            </a:r>
            <a:r>
              <a:rPr lang="en-US" sz="1300"/>
              <a:t>, 2024, pp. 1–5, </a:t>
            </a:r>
            <a:r>
              <a:rPr lang="en-US" sz="1300" err="1"/>
              <a:t>doi</a:t>
            </a:r>
            <a:r>
              <a:rPr lang="en-US" sz="1300"/>
              <a:t>: 10.1109/AIIoT58432.2024.10574566. </a:t>
            </a:r>
          </a:p>
          <a:p>
            <a:pPr marL="0" indent="0">
              <a:buNone/>
            </a:pPr>
            <a:r>
              <a:rPr lang="en-US" sz="1300"/>
              <a:t>[10] H. Teymourlouei, D. Stone, and L. Jackson, “Identifying zero-day attacks with machine learning and data reduction methods,” in </a:t>
            </a:r>
            <a:r>
              <a:rPr lang="en-US" sz="1300" i="1"/>
              <a:t>Proc. 2023 Congress in Computer Science, Computer Engineering, &amp; Applied Computing (CSCE)</a:t>
            </a:r>
            <a:r>
              <a:rPr lang="en-US" sz="1300"/>
              <a:t>, Las Vegas, NV, USA, 2023, pp. 2285–2290, </a:t>
            </a:r>
            <a:r>
              <a:rPr lang="en-US" sz="1300" err="1"/>
              <a:t>doi</a:t>
            </a:r>
            <a:r>
              <a:rPr lang="en-US" sz="1300"/>
              <a:t>: 10.1109/CSCE60160.2023.00372. </a:t>
            </a:r>
          </a:p>
          <a:p>
            <a:pPr marL="0" indent="0">
              <a:buNone/>
            </a:pPr>
            <a:r>
              <a:rPr lang="en-US" sz="1300"/>
              <a:t>[11] S. Mohanta, S. K. Mohapatra, R. K. Mohanta, S. </a:t>
            </a:r>
            <a:r>
              <a:rPr lang="en-US" sz="1300" err="1"/>
              <a:t>Tewary</a:t>
            </a:r>
            <a:r>
              <a:rPr lang="en-US" sz="1300"/>
              <a:t>, S. Bharadwaj, and S. Chakravarty, “An adaptive framework with optimized machine learning models for real-time zero-day cyber threat detection,” in </a:t>
            </a:r>
            <a:r>
              <a:rPr lang="en-US" sz="1300" i="1"/>
              <a:t>Proc. 1st Int. Conf. Intelligent Computing, Networks and Security (IC-ICNS)</a:t>
            </a:r>
            <a:r>
              <a:rPr lang="en-US" sz="1300"/>
              <a:t>, 2026, </a:t>
            </a:r>
            <a:r>
              <a:rPr lang="en-US" sz="1300" err="1"/>
              <a:t>doi</a:t>
            </a:r>
            <a:r>
              <a:rPr lang="en-US" sz="1300"/>
              <a:t>: 10.1109/IC-ICNS68863.2026.11537623. </a:t>
            </a:r>
          </a:p>
          <a:p>
            <a:pPr marL="0" indent="0">
              <a:buNone/>
            </a:pPr>
            <a:r>
              <a:rPr lang="en-US" sz="1300"/>
              <a:t>[12] K. Ahi and S. Valizadeh, “Large language models (LLMs) and generative AI in cybersecurity and privacy: A survey of dual-use risks, AI-generated malware, explainability, and defensive strategies,” </a:t>
            </a:r>
            <a:r>
              <a:rPr lang="en-US" sz="1300" i="1" err="1"/>
              <a:t>arXiv</a:t>
            </a:r>
            <a:r>
              <a:rPr lang="en-US" sz="1300" i="1"/>
              <a:t> preprint arXiv:2607.06963</a:t>
            </a:r>
            <a:r>
              <a:rPr lang="en-US" sz="1300"/>
              <a:t>, 2026. </a:t>
            </a:r>
          </a:p>
          <a:p>
            <a:pPr marL="0" indent="0">
              <a:buNone/>
            </a:pPr>
            <a:r>
              <a:rPr lang="en-US" sz="1300"/>
              <a:t>[13] M. Niveditha, M. D. Swetha, M. Siva Rama Krishna, S. Rashmi, B. Pallavi, and M. Lakshmi Neelima, “Smart cyber threat intelligence system for autonomous threat aggregation and reporting,” in </a:t>
            </a:r>
            <a:r>
              <a:rPr lang="en-US" sz="1300" i="1"/>
              <a:t>Proc. 2026 Int. Conf. AI-Driven Innovations &amp; Applications (IC-AIDA)</a:t>
            </a:r>
            <a:r>
              <a:rPr lang="en-US" sz="1300"/>
              <a:t>, 2026, </a:t>
            </a:r>
            <a:r>
              <a:rPr lang="en-US" sz="1300" err="1"/>
              <a:t>doi</a:t>
            </a:r>
            <a:r>
              <a:rPr lang="en-US" sz="1300"/>
              <a:t>: 10.1109/IC-AIDA68291.2026.11564311. </a:t>
            </a:r>
          </a:p>
          <a:p>
            <a:pPr marL="0" indent="0">
              <a:buNone/>
            </a:pPr>
            <a:r>
              <a:rPr lang="en-US" sz="1300"/>
              <a:t>[14] M. Yadav, “The role of large language models in cybersecurity: Strengths, vulnerabilities, and mitigation strategies,” in </a:t>
            </a:r>
            <a:r>
              <a:rPr lang="en-US" sz="1300" i="1"/>
              <a:t>Proc. 3rd Int. Conf. Sustainable Computing and Smart Systems (ICSCSS)</a:t>
            </a:r>
            <a:r>
              <a:rPr lang="en-US" sz="1300"/>
              <a:t>, 2025, pp. 1983–1990, </a:t>
            </a:r>
            <a:r>
              <a:rPr lang="en-US" sz="1300" err="1"/>
              <a:t>doi</a:t>
            </a:r>
            <a:r>
              <a:rPr lang="en-US" sz="1300"/>
              <a:t>: 10.1109/ICSCSS64956.2025.11500704. </a:t>
            </a:r>
          </a:p>
          <a:p>
            <a:pPr marL="0" indent="0">
              <a:buNone/>
            </a:pPr>
            <a:r>
              <a:rPr lang="en-US" sz="1300"/>
              <a:t>[15] Y. Ma, G. Zeng, P. Zhang, Y. Huang, F. Zhang, R. Lin, and H. Qian, “</a:t>
            </a:r>
            <a:r>
              <a:rPr lang="en-US" sz="1300" err="1"/>
              <a:t>TrapLLM</a:t>
            </a:r>
            <a:r>
              <a:rPr lang="en-US" sz="1300"/>
              <a:t>: An LLM-powered interactive log-based honeypot for real-world network attacks,” in </a:t>
            </a:r>
            <a:r>
              <a:rPr lang="en-US" sz="1300" i="1"/>
              <a:t>Proc. 2025 IEEE 24th Int. Conf. Trust, Security and Privacy in Computing and Communications (</a:t>
            </a:r>
            <a:r>
              <a:rPr lang="en-US" sz="1300" i="1" err="1"/>
              <a:t>TrustCom</a:t>
            </a:r>
            <a:r>
              <a:rPr lang="en-US" sz="1300" i="1"/>
              <a:t>)</a:t>
            </a:r>
            <a:r>
              <a:rPr lang="en-US" sz="1300"/>
              <a:t>, 2025, pp. 1578–1585, </a:t>
            </a:r>
            <a:r>
              <a:rPr lang="en-US" sz="1300" err="1"/>
              <a:t>doi</a:t>
            </a:r>
            <a:r>
              <a:rPr lang="en-US" sz="1300"/>
              <a:t>: 10.1109/TrustCom66490.2025.00183. </a:t>
            </a:r>
          </a:p>
          <a:p>
            <a:pPr marL="0" indent="0">
              <a:buNone/>
            </a:pPr>
            <a:r>
              <a:rPr lang="en-US" sz="1300"/>
              <a:t>[16] B. E. Özkan and İ. B. </a:t>
            </a:r>
            <a:r>
              <a:rPr lang="en-US" sz="1300" err="1"/>
              <a:t>Tolga</a:t>
            </a:r>
            <a:r>
              <a:rPr lang="en-US" sz="1300"/>
              <a:t>, “Zero-day operational cyber readiness,” in </a:t>
            </a:r>
            <a:r>
              <a:rPr lang="en-US" sz="1300" i="1"/>
              <a:t>Proc. 15th Int. Conf. Cyber Conflict: Meeting Reality (</a:t>
            </a:r>
            <a:r>
              <a:rPr lang="en-US" sz="1300" i="1" err="1"/>
              <a:t>CyCon</a:t>
            </a:r>
            <a:r>
              <a:rPr lang="en-US" sz="1300" i="1"/>
              <a:t>)</a:t>
            </a:r>
            <a:r>
              <a:rPr lang="en-US" sz="1300"/>
              <a:t>, Tallinn, Estonia, 2023, pp. 199–215, </a:t>
            </a:r>
            <a:r>
              <a:rPr lang="en-US" sz="1300" err="1"/>
              <a:t>doi</a:t>
            </a:r>
            <a:r>
              <a:rPr lang="en-US" sz="1300"/>
              <a:t>: 10.23919/CyCon58705.2023.10181814. </a:t>
            </a:r>
          </a:p>
          <a:p>
            <a:pPr marL="0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00775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ZeroShield AI: An Explainable Framework for Zero-Day Threat Detection </vt:lpstr>
      <vt:lpstr>Introduction</vt:lpstr>
      <vt:lpstr>THE INDUSTRY PROBLEM</vt:lpstr>
      <vt:lpstr>AI is Changing Security Operations</vt:lpstr>
      <vt:lpstr>Can We Trust the AI's Verdict?”</vt:lpstr>
      <vt:lpstr>Motivation</vt:lpstr>
      <vt:lpstr>PowerPoint Presentation</vt:lpstr>
      <vt:lpstr>Literature Survey &amp; Summary </vt:lpstr>
      <vt:lpstr>Literature Survey &amp; Summary </vt:lpstr>
      <vt:lpstr>Literature Survey &amp; Summary</vt:lpstr>
      <vt:lpstr>Literature Survey &amp; Summary </vt:lpstr>
      <vt:lpstr>Literature Survey &amp; Summary </vt:lpstr>
      <vt:lpstr>Literature Survey &amp; Summary </vt:lpstr>
      <vt:lpstr>Literature Survey &amp; Summary</vt:lpstr>
      <vt:lpstr>Literature Survey &amp; Summary</vt:lpstr>
      <vt:lpstr>Literature Survey &amp; Summary</vt:lpstr>
      <vt:lpstr>Literature Survey &amp; Summary</vt:lpstr>
      <vt:lpstr>Literature Survey &amp; Summary</vt:lpstr>
      <vt:lpstr>Literature Survey &amp; Summary </vt:lpstr>
      <vt:lpstr>Literature Survey &amp; Summary </vt:lpstr>
      <vt:lpstr>Literature Survey &amp; Summary </vt:lpstr>
      <vt:lpstr>Literature Survey &amp; Summary </vt:lpstr>
      <vt:lpstr>Literature Survey &amp; Summary </vt:lpstr>
      <vt:lpstr>Literature Survey &amp; Summary </vt:lpstr>
      <vt:lpstr>Problem statement</vt:lpstr>
      <vt:lpstr>Introducing ZeroShield AI</vt:lpstr>
      <vt:lpstr>PowerPoint Presentation</vt:lpstr>
      <vt:lpstr>Time Plan</vt:lpstr>
      <vt:lpstr>Step 1) Dataset: CIC-IoT-2023 Canadian Institute for Cybersecurity — 105 real IoT devices, 33 attacks across 7 categories </vt:lpstr>
      <vt:lpstr>2)Feature Engineering</vt:lpstr>
      <vt:lpstr>2)split Zero-Day Attack Experimental Setup</vt:lpstr>
      <vt:lpstr>Two Models Evaluated</vt:lpstr>
      <vt:lpstr>Partial results</vt:lpstr>
      <vt:lpstr>PowerPoint Presentation</vt:lpstr>
      <vt:lpstr>Isolation Forest</vt:lpstr>
      <vt:lpstr>References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2026-08-26T08:48:33Z</dcterms:created>
  <dcterms:modified xsi:type="dcterms:W3CDTF">2026-09-27T10:11:18Z</dcterms:modified>
</cp:coreProperties>
</file>